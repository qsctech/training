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7"/>
    <p:sldId id="285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206" y="4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这张图展示了软件需求的三个层次，以及它们之间的关系和影响。具体来说：</a:t>
            </a:r>
            <a:endParaRPr lang="zh-CN" altLang="en-US"/>
          </a:p>
          <a:p>
            <a:r>
              <a:rPr lang="zh-CN" altLang="en-US"/>
              <a:t>业务需求（</a:t>
            </a:r>
            <a:r>
              <a:rPr lang="en-US" altLang="zh-CN"/>
              <a:t>Business Requirements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zh-CN" altLang="en-US"/>
              <a:t>位于最上层，代表组织或客户对软件的高层次需求。</a:t>
            </a:r>
            <a:endParaRPr lang="zh-CN" altLang="en-US"/>
          </a:p>
          <a:p>
            <a:r>
              <a:rPr lang="zh-CN" altLang="en-US"/>
              <a:t>这些需求通常由业务规则（</a:t>
            </a:r>
            <a:r>
              <a:rPr lang="en-US" altLang="zh-CN"/>
              <a:t>Business Rules</a:t>
            </a:r>
            <a:r>
              <a:rPr lang="zh-CN" altLang="en-US"/>
              <a:t>）来定义和影响。</a:t>
            </a:r>
            <a:endParaRPr lang="zh-CN" altLang="en-US"/>
          </a:p>
          <a:p>
            <a:r>
              <a:rPr lang="zh-CN" altLang="en-US"/>
              <a:t>用户需求（</a:t>
            </a:r>
            <a:r>
              <a:rPr lang="en-US" altLang="zh-CN"/>
              <a:t>User Requirements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zh-CN" altLang="en-US"/>
              <a:t>位于中间层，是用户对软件的具体需求。</a:t>
            </a:r>
            <a:endParaRPr lang="zh-CN" altLang="en-US"/>
          </a:p>
          <a:p>
            <a:r>
              <a:rPr lang="zh-CN" altLang="en-US"/>
              <a:t>用户需求受到业务需求的影响，并通过愿景和范围文档（</a:t>
            </a:r>
            <a:r>
              <a:rPr lang="en-US" altLang="zh-CN"/>
              <a:t>Vision and Scope Document</a:t>
            </a:r>
            <a:r>
              <a:rPr lang="zh-CN" altLang="en-US"/>
              <a:t>）来定义。</a:t>
            </a:r>
            <a:endParaRPr lang="zh-CN" altLang="en-US"/>
          </a:p>
          <a:p>
            <a:r>
              <a:rPr lang="zh-CN" altLang="en-US"/>
              <a:t>用户需求进一步细化为用户需求文档（</a:t>
            </a:r>
            <a:r>
              <a:rPr lang="en-US" altLang="zh-CN"/>
              <a:t>User Requirements Document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系统需求（</a:t>
            </a:r>
            <a:r>
              <a:rPr lang="en-US" altLang="zh-CN"/>
              <a:t>System Requirements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zh-CN" altLang="en-US"/>
              <a:t>位于最下层，包括功能需求（</a:t>
            </a:r>
            <a:r>
              <a:rPr lang="en-US" altLang="zh-CN"/>
              <a:t>Functional Requirements</a:t>
            </a:r>
            <a:r>
              <a:rPr lang="zh-CN" altLang="en-US"/>
              <a:t>）和非功能需求，如质量属性（</a:t>
            </a:r>
            <a:r>
              <a:rPr lang="en-US" altLang="zh-CN"/>
              <a:t>Quality Attributes</a:t>
            </a:r>
            <a:r>
              <a:rPr lang="zh-CN" altLang="en-US"/>
              <a:t>）、外部接口（</a:t>
            </a:r>
            <a:r>
              <a:rPr lang="en-US" altLang="zh-CN"/>
              <a:t>External Interfaces</a:t>
            </a:r>
            <a:r>
              <a:rPr lang="zh-CN" altLang="en-US"/>
              <a:t>）和约束（</a:t>
            </a:r>
            <a:r>
              <a:rPr lang="en-US" altLang="zh-CN"/>
              <a:t>Constraints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系统需求是软件需求规格说明书（</a:t>
            </a:r>
            <a:r>
              <a:rPr lang="en-US" altLang="zh-CN"/>
              <a:t>Software Requirements Specification, SRS</a:t>
            </a:r>
            <a:r>
              <a:rPr lang="zh-CN" altLang="en-US"/>
              <a:t>）的基础。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想了解</a:t>
            </a:r>
            <a:r>
              <a:rPr lang="en-US" altLang="zh-CN"/>
              <a:t>UML</a:t>
            </a:r>
            <a:r>
              <a:rPr lang="zh-CN" altLang="en-US"/>
              <a:t>图的话走此链接：</a:t>
            </a:r>
            <a:r>
              <a:rPr lang="en-US" altLang="zh-CN"/>
              <a:t>https://www.cnblogs.com/hzxll/p/16190230.html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ATM </a:t>
            </a:r>
            <a:r>
              <a:rPr lang="zh-CN" altLang="en-US"/>
              <a:t>示例用例</a:t>
            </a:r>
            <a:r>
              <a:rPr lang="en-US" altLang="zh-CN"/>
              <a:t> - 1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名称：提取现金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参与者：账户持有人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描述：用户从账户中提取特定金额的现金。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触发条件：账户持有人选择</a:t>
            </a:r>
            <a:r>
              <a:rPr lang="en-US" altLang="zh-CN"/>
              <a:t>“</a:t>
            </a:r>
            <a:r>
              <a:rPr lang="zh-CN" altLang="en-US"/>
              <a:t>取款</a:t>
            </a:r>
            <a:r>
              <a:rPr lang="en-US" altLang="zh-CN"/>
              <a:t>”</a:t>
            </a:r>
            <a:r>
              <a:rPr lang="zh-CN" altLang="en-US"/>
              <a:t>操作。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前置条件：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账户持有人已登录</a:t>
            </a:r>
            <a:r>
              <a:rPr lang="en-US" altLang="zh-CN"/>
              <a:t>ATM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账户持有人至少有一个余额为正的账户。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ATM</a:t>
            </a:r>
            <a:r>
              <a:rPr lang="zh-CN" altLang="en-US"/>
              <a:t>机内装有现金。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后置条件：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所请求金额的现金已被吐出。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账户余额减少了（取款金额</a:t>
            </a:r>
            <a:r>
              <a:rPr lang="en-US" altLang="zh-CN"/>
              <a:t> + </a:t>
            </a:r>
            <a:r>
              <a:rPr lang="zh-CN" altLang="en-US"/>
              <a:t>任何手续费）。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ATM</a:t>
            </a:r>
            <a:r>
              <a:rPr lang="zh-CN" altLang="en-US"/>
              <a:t>内的现金余额减少了取款金额。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ATM </a:t>
            </a:r>
            <a:r>
              <a:rPr lang="zh-CN" altLang="en-US"/>
              <a:t>示例用例</a:t>
            </a:r>
            <a:r>
              <a:rPr lang="en-US" altLang="zh-CN"/>
              <a:t> - 2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正常流程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系统显示用户的账户列表。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账户持有人选择所需账户。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系统询问用户从列表中选择要提取的金额。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账户持有人选择要提取的金额。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系统吐出钞票。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账户持有人从出钞口取走现金。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ATM </a:t>
            </a:r>
            <a:r>
              <a:rPr lang="zh-CN" altLang="en-US"/>
              <a:t>示例用例</a:t>
            </a:r>
            <a:r>
              <a:rPr lang="en-US" altLang="zh-CN"/>
              <a:t> - 3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备选流程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在第</a:t>
            </a:r>
            <a:r>
              <a:rPr lang="en-US" altLang="zh-CN"/>
              <a:t>3</a:t>
            </a:r>
            <a:r>
              <a:rPr lang="zh-CN" altLang="en-US"/>
              <a:t>步，参与者可以选择输入一个自定义金额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（说明分支发生的位置、发生了什么、以及备选流程在何处重新汇入主流程）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异常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金额不是</a:t>
            </a:r>
            <a:r>
              <a:rPr lang="en-US" altLang="zh-CN"/>
              <a:t>20</a:t>
            </a:r>
            <a:r>
              <a:rPr lang="zh-CN" altLang="en-US"/>
              <a:t>美元的倍数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金额超过单日取款限额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金额超过账户余额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金额超过</a:t>
            </a:r>
            <a:r>
              <a:rPr lang="en-US" altLang="zh-CN"/>
              <a:t>ATM</a:t>
            </a:r>
            <a:r>
              <a:rPr lang="zh-CN" altLang="en-US"/>
              <a:t>机内可用现金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（指出异常可能发生的步骤编号，以及系统如何处理它）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292350"/>
            <a:ext cx="45974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596900"/>
            <a:ext cx="6883400" cy="1854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3419157"/>
            <a:ext cx="7559675" cy="139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mer7g71nt.feishu.cn/docx/IosCdURNyoxLWLxKayEcCfDEngc?from=from_copy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144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35012" y="2292350"/>
            <a:ext cx="787558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spc="-1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PRD</a:t>
            </a:r>
            <a:r>
              <a:rPr lang="zh-CN" altLang="en-US" sz="6000" spc="-1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rPr>
              <a:t>产品</a:t>
            </a:r>
            <a:r>
              <a:rPr sz="6000" spc="-10">
                <a:solidFill>
                  <a:srgbClr val="FFFFFF"/>
                </a:solidFill>
              </a:rPr>
              <a:t>需求文档</a:t>
            </a:r>
            <a:endParaRPr sz="6000" dirty="0"/>
          </a:p>
        </p:txBody>
      </p:sp>
      <p:sp>
        <p:nvSpPr>
          <p:cNvPr id="4" name="object 4"/>
          <p:cNvSpPr txBox="1"/>
          <p:nvPr/>
        </p:nvSpPr>
        <p:spPr>
          <a:xfrm>
            <a:off x="735012" y="3885882"/>
            <a:ext cx="1979930" cy="446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202</a:t>
            </a:r>
            <a:r>
              <a:rPr lang="en-US" altLang="en-US"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5</a:t>
            </a: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lang="en-US" altLang="en-US"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10</a:t>
            </a: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sz="2800" b="1" spc="-25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2</a:t>
            </a:r>
            <a:r>
              <a:rPr lang="en-US" altLang="en-US" sz="2800" b="1" spc="-25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4</a:t>
            </a:r>
            <a:endParaRPr lang="en-US" altLang="en-US" sz="2800" b="1" spc="-25" dirty="0">
              <a:solidFill>
                <a:srgbClr val="FFFFFF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>
                <a:solidFill>
                  <a:schemeClr val="bg1"/>
                </a:solidFill>
              </a:rPr>
              <a:t>需求文档 -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-20" dirty="0">
                <a:solidFill>
                  <a:schemeClr val="bg1"/>
                </a:solidFill>
              </a:rPr>
              <a:t> 叉粑</a:t>
            </a:r>
            <a:endParaRPr spc="-2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711325"/>
            <a:ext cx="37782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5" dirty="0"/>
              <a:t>PRD</a:t>
            </a:r>
            <a:r>
              <a:rPr sz="6000" spc="-60" dirty="0"/>
              <a:t>是什么</a:t>
            </a:r>
            <a:endParaRPr sz="6000" dirty="0"/>
          </a:p>
        </p:txBody>
      </p:sp>
      <p:sp>
        <p:nvSpPr>
          <p:cNvPr id="3" name="object 3"/>
          <p:cNvSpPr/>
          <p:nvPr/>
        </p:nvSpPr>
        <p:spPr>
          <a:xfrm>
            <a:off x="752474" y="3124199"/>
            <a:ext cx="66675" cy="1943100"/>
          </a:xfrm>
          <a:custGeom>
            <a:avLst/>
            <a:gdLst/>
            <a:ahLst/>
            <a:cxnLst/>
            <a:rect l="l" t="t" r="r" b="b"/>
            <a:pathLst>
              <a:path w="66675" h="1943100">
                <a:moveTo>
                  <a:pt x="66674" y="1943099"/>
                </a:moveTo>
                <a:lnTo>
                  <a:pt x="0" y="1943099"/>
                </a:lnTo>
                <a:lnTo>
                  <a:pt x="0" y="0"/>
                </a:lnTo>
                <a:lnTo>
                  <a:pt x="66674" y="0"/>
                </a:lnTo>
                <a:lnTo>
                  <a:pt x="66674" y="1943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34160" y="3187700"/>
            <a:ext cx="9446895" cy="1891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Product</a:t>
            </a:r>
            <a:r>
              <a:rPr sz="2150" spc="9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Requirement</a:t>
            </a:r>
            <a:r>
              <a:rPr sz="2150" spc="8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Document</a:t>
            </a:r>
            <a:r>
              <a:rPr sz="2150" spc="9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(PRD)</a:t>
            </a:r>
            <a:r>
              <a:rPr sz="2150" spc="8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微软雅黑" panose="020B0503020204020204" charset="-122"/>
                <a:cs typeface="微软雅黑" panose="020B0503020204020204" charset="-122"/>
              </a:rPr>
              <a:t>⽂</a:t>
            </a:r>
            <a:r>
              <a:rPr sz="2150" spc="-2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档是：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11125" marR="359410">
              <a:lnSpc>
                <a:spcPct val="148000"/>
              </a:lnSpc>
              <a:spcBef>
                <a:spcPts val="595"/>
              </a:spcBef>
            </a:pPr>
            <a:r>
              <a:rPr sz="2150" dirty="0">
                <a:solidFill>
                  <a:srgbClr val="57606A"/>
                </a:solidFill>
                <a:latin typeface="微软雅黑" panose="020B0503020204020204" charset="-122"/>
                <a:cs typeface="微软雅黑" panose="020B0503020204020204" charset="-122"/>
              </a:rPr>
              <a:t>⼀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个产品从 </a:t>
            </a:r>
            <a:r>
              <a:rPr sz="2150" b="1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“概念化”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阶段进</a:t>
            </a:r>
            <a:r>
              <a:rPr sz="2150" dirty="0">
                <a:solidFill>
                  <a:srgbClr val="57606A"/>
                </a:solidFill>
                <a:latin typeface="微软雅黑" panose="020B0503020204020204" charset="-122"/>
                <a:cs typeface="微软雅黑" panose="020B0503020204020204" charset="-122"/>
              </a:rPr>
              <a:t>⼊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到 </a:t>
            </a:r>
            <a:r>
              <a:rPr sz="2150" b="1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“图纸化” </a:t>
            </a: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阶段至关重要的部分。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其作用是对MRD</a:t>
            </a:r>
            <a:r>
              <a:rPr lang="zh-CN" altLang="en-US" sz="2150" dirty="0">
                <a:solidFill>
                  <a:srgbClr val="57606A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（</a:t>
            </a:r>
            <a:r>
              <a:rPr lang="zh-CN" altLang="en-US" sz="2150" dirty="0">
                <a:solidFill>
                  <a:srgbClr val="57606A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市场需求文档）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中的内容进</a:t>
            </a:r>
            <a:r>
              <a:rPr sz="2150" spc="35" dirty="0">
                <a:solidFill>
                  <a:srgbClr val="57606A"/>
                </a:solidFill>
                <a:latin typeface="微软雅黑" panose="020B0503020204020204" charset="-122"/>
                <a:cs typeface="微软雅黑" panose="020B0503020204020204" charset="-122"/>
              </a:rPr>
              <a:t>⾏ </a:t>
            </a:r>
            <a:r>
              <a:rPr sz="2150" b="1" spc="1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"指标化" </a:t>
            </a:r>
            <a:r>
              <a:rPr sz="2150" spc="6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和 </a:t>
            </a:r>
            <a:r>
              <a:rPr sz="2150" b="1" spc="1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"技术化" </a:t>
            </a:r>
            <a:r>
              <a:rPr sz="2150" spc="-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1112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该</a:t>
            </a:r>
            <a:r>
              <a:rPr sz="2150" dirty="0">
                <a:solidFill>
                  <a:srgbClr val="57606A"/>
                </a:solidFill>
                <a:latin typeface="微软雅黑" panose="020B0503020204020204" charset="-122"/>
                <a:cs typeface="微软雅黑" panose="020B0503020204020204" charset="-122"/>
              </a:rPr>
              <a:t>⽂</a:t>
            </a:r>
            <a:r>
              <a:rPr sz="2150" spc="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档的好坏将直接影响到研发部门能否明确产品的 </a:t>
            </a:r>
            <a:r>
              <a:rPr sz="2150" b="1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功能 </a:t>
            </a:r>
            <a:r>
              <a:rPr sz="2150" spc="7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和 </a:t>
            </a:r>
            <a:r>
              <a:rPr sz="2150" b="1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性能 </a:t>
            </a:r>
            <a:r>
              <a:rPr sz="2150" spc="-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38274" y="38576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38274" y="434339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38274" y="4829174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/>
              <a:t>修改：</a:t>
            </a:r>
            <a:r>
              <a:rPr lang="zh-CN" spc="-20" dirty="0"/>
              <a:t>晚自习</a:t>
            </a:r>
            <a:endParaRPr lang="zh-CN" spc="-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94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0" dirty="0"/>
              <a:t>为什么要撰写</a:t>
            </a:r>
            <a:r>
              <a:rPr sz="6000" spc="-25" dirty="0"/>
              <a:t>PRD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60997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095749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863850"/>
            <a:ext cx="10488295" cy="2385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PRD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文档在项目中起到“承上启下”的作用。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spc="3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“向上” - 指对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MRD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内容的继承和发展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7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“向下” - 指对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MRD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中的内容技术化，向研发部门说明产品的功能和性能指标。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 indent="453390">
              <a:lnSpc>
                <a:spcPct val="128000"/>
              </a:lnSpc>
              <a:spcBef>
                <a:spcPts val="112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简单来说，PRD的作用就是让技术部门不需要抓PM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去逐条解释我们列出的产品逻辑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&amp;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(非)功能需求。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596900"/>
            <a:ext cx="45402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5" dirty="0"/>
              <a:t>PRD</a:t>
            </a:r>
            <a:r>
              <a:rPr sz="6000" spc="-60" dirty="0"/>
              <a:t>撰写流程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129873" y="2190432"/>
            <a:ext cx="4946015" cy="3837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前期准备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374015">
              <a:lnSpc>
                <a:spcPct val="100000"/>
              </a:lnSpc>
              <a:spcBef>
                <a:spcPts val="254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应用架构（流程图，思维导图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，etc.）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梳理需求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 marR="3488690">
              <a:lnSpc>
                <a:spcPct val="219000"/>
              </a:lnSpc>
              <a:spcBef>
                <a:spcPts val="75"/>
              </a:spcBef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原型设计撰写文档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11300"/>
            <a:ext cx="45402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5" dirty="0"/>
              <a:t>PRD</a:t>
            </a:r>
            <a:r>
              <a:rPr sz="6000" spc="-60" dirty="0"/>
              <a:t>内容结构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09562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2757170"/>
            <a:ext cx="2522538" cy="2488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289685">
              <a:lnSpc>
                <a:spcPct val="148000"/>
              </a:lnSpc>
              <a:spcBef>
                <a:spcPts val="90"/>
              </a:spcBef>
            </a:pPr>
            <a:r>
              <a:rPr sz="2150" spc="-25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头部</a:t>
            </a:r>
            <a:endParaRPr lang="en-US" sz="2150" spc="-25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12700" marR="1289685">
              <a:lnSpc>
                <a:spcPct val="148000"/>
              </a:lnSpc>
              <a:spcBef>
                <a:spcPts val="90"/>
              </a:spcBef>
            </a:pPr>
            <a:r>
              <a:rPr lang="zh-CN" altLang="en-US"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文档信息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ts val="3830"/>
              </a:lnSpc>
              <a:spcBef>
                <a:spcPts val="260"/>
              </a:spcBef>
            </a:pPr>
            <a:r>
              <a:rPr sz="2150" spc="-1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</a:t>
            </a:r>
            <a:r>
              <a:rPr lang="zh-CN" altLang="en-US"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信息</a:t>
            </a:r>
            <a:endParaRPr lang="en-US" altLang="zh-CN" sz="2150" spc="-10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ts val="3830"/>
              </a:lnSpc>
              <a:spcBef>
                <a:spcPts val="260"/>
              </a:spcBef>
            </a:pPr>
            <a:r>
              <a:rPr sz="2150" spc="-1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功能性需求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非功能性需求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581399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05764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543424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5029199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54125"/>
            <a:ext cx="1549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头部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735012" y="2847657"/>
            <a:ext cx="8001000" cy="2602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文件撰写相关信息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314960">
              <a:lnSpc>
                <a:spcPct val="100000"/>
              </a:lnSpc>
              <a:spcBef>
                <a:spcPts val="254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文件名称，撰写人，撰写日期，版本号，审核人，审核日期  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etc.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文件声明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314960">
              <a:lnSpc>
                <a:spcPct val="100000"/>
              </a:lnSpc>
              <a:spcBef>
                <a:spcPts val="246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文件使用权限声明，文件保密声明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66482"/>
            <a:ext cx="253936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版本与修订记录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474" y="1819275"/>
            <a:ext cx="5343524" cy="26860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012" y="4814569"/>
            <a:ext cx="10497820" cy="8636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81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PRD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需要与产品一起迭代更新，每一版本的更新与修改都需要做详细记录。一般使用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AMD</a:t>
            </a:r>
            <a:r>
              <a:rPr lang="zh-CN" altLang="en-US"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方法</a:t>
            </a:r>
            <a:r>
              <a:rPr sz="215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标注本次文档的更新操作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：`A</a:t>
            </a:r>
            <a:r>
              <a:rPr sz="2150" spc="4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-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added`</a:t>
            </a:r>
            <a:r>
              <a:rPr sz="2150" spc="7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`M</a:t>
            </a:r>
            <a:r>
              <a:rPr sz="2150" spc="4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-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modified`</a:t>
            </a:r>
            <a:r>
              <a:rPr sz="2150" spc="6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`D</a:t>
            </a:r>
            <a:r>
              <a:rPr sz="2150" spc="4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-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deleted`</a:t>
            </a:r>
            <a:r>
              <a:rPr sz="2150" spc="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8825"/>
            <a:ext cx="383698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6000" spc="-25" dirty="0">
                <a:latin typeface="等线" panose="02010600030101010101" charset="-122"/>
                <a:ea typeface="等线" panose="02010600030101010101" charset="-122"/>
              </a:rPr>
              <a:t>文档信息</a:t>
            </a:r>
            <a:endParaRPr sz="60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3105149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84809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324349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810124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5295899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5781674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2352357"/>
            <a:ext cx="4445000" cy="36023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zh-CN" altLang="en-US"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文档</a:t>
            </a:r>
            <a:r>
              <a:rPr sz="2800" b="1" spc="-15" dirty="0" err="1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编写目的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marR="815340" indent="-207645">
              <a:lnSpc>
                <a:spcPct val="174000"/>
              </a:lnSpc>
              <a:spcBef>
                <a:spcPts val="545"/>
              </a:spcBef>
            </a:pP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主要用于阐述本PRD</a:t>
            </a:r>
            <a:r>
              <a:rPr sz="2150" spc="-2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的作用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开发人员的开发依据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marR="441960">
              <a:lnSpc>
                <a:spcPts val="3830"/>
              </a:lnSpc>
              <a:spcBef>
                <a:spcPts val="255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设计人员输入源</a:t>
            </a:r>
            <a:r>
              <a:rPr sz="2150" spc="53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       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PM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跟进产品实现程度的依据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90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测试人员编写测试用例的输入源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外部人员理解产品执行的依据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1323657"/>
            <a:ext cx="28981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相关参考文档资料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2076449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293" y="2063750"/>
            <a:ext cx="720725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附上相关参考文档信息，以便相关人员获取更详细的信息。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474" y="2647949"/>
            <a:ext cx="10696575" cy="2428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482600"/>
            <a:ext cx="5122545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5210" algn="l"/>
              </a:tabLst>
            </a:pPr>
            <a:r>
              <a:rPr sz="6000" spc="-60" dirty="0" err="1"/>
              <a:t>产品</a:t>
            </a:r>
            <a:r>
              <a:rPr lang="zh-CN" sz="6000" spc="-60" dirty="0" err="1"/>
              <a:t>信息</a:t>
            </a:r>
            <a:endParaRPr lang="zh-CN" sz="6000" spc="-60" dirty="0" err="1"/>
          </a:p>
        </p:txBody>
      </p:sp>
      <p:sp>
        <p:nvSpPr>
          <p:cNvPr id="3" name="object 3"/>
          <p:cNvSpPr/>
          <p:nvPr/>
        </p:nvSpPr>
        <p:spPr>
          <a:xfrm>
            <a:off x="752474" y="1895474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68617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17194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6475" y="1882775"/>
            <a:ext cx="10250805" cy="4363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从整体角度阐述  项目/产品，包括：待解决的需求、待实现的功能、包含哪些产品...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293370" algn="l"/>
              </a:tabLst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整体描述：产品定位及特色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3370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包含的产品（细分）：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适用于相对较大的项目，我们需要阐述该项目下包含的产品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marR="3007360">
              <a:lnSpc>
                <a:spcPct val="148000"/>
              </a:lnSpc>
              <a:spcBef>
                <a:spcPts val="59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按客户端分：Win，Mac，WEB，IOS，Android，</a:t>
            </a: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小程序...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按用户端分：B端</a:t>
            </a:r>
            <a:r>
              <a:rPr lang="zh-CN" altLang="en-US" sz="21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（</a:t>
            </a:r>
            <a:r>
              <a:rPr lang="en-US" altLang="zh-CN" sz="21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to business</a:t>
            </a:r>
            <a:r>
              <a:rPr lang="zh-CN" altLang="en-US" sz="21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）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，C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端</a:t>
            </a:r>
            <a:r>
              <a:rPr lang="zh-CN" altLang="en-US" sz="2150" spc="-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（</a:t>
            </a:r>
            <a:r>
              <a:rPr lang="en-US" altLang="zh-CN" sz="2150" spc="-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to customer</a:t>
            </a:r>
            <a:r>
              <a:rPr lang="zh-CN" altLang="en-US" sz="2150" spc="-50" dirty="0">
                <a:solidFill>
                  <a:srgbClr val="404040"/>
                </a:solidFill>
                <a:latin typeface="等线" panose="02010600030101010101" charset="-122"/>
                <a:ea typeface="宋体" panose="02010600030101010101" pitchFamily="2" charset="-122"/>
                <a:cs typeface="等线" panose="02010600030101010101" charset="-122"/>
              </a:rPr>
              <a:t>）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845"/>
              </a:spcBef>
              <a:buAutoNum type="arabicPeriod" startAt="3"/>
              <a:tabLst>
                <a:tab pos="293370" algn="l"/>
              </a:tabLst>
            </a:pP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产品功能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marR="5080">
              <a:lnSpc>
                <a:spcPct val="125000"/>
              </a:lnSpc>
              <a:spcBef>
                <a:spcPts val="7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此外，我们需要阐述项目中各个子产品包含的主要功能。如，对于一款一对一答疑辅导产品而言：教师 - 为学生解答问题，学生端 - 上传问题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245"/>
              </a:spcBef>
              <a:buAutoNum type="arabicPeriod" startAt="4"/>
              <a:tabLst>
                <a:tab pos="293370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用户分析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（Maybe）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09432"/>
            <a:ext cx="182118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产品结构图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30517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79094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2767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752974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559050"/>
            <a:ext cx="2787650" cy="2366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可以有以下表现形式：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思维导图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301625">
              <a:lnSpc>
                <a:spcPts val="3830"/>
              </a:lnSpc>
              <a:spcBef>
                <a:spcPts val="330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流程图 / 泳道图</a:t>
            </a: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手绘草图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830"/>
              </a:spcBef>
            </a:pP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demo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pic>
        <p:nvPicPr>
          <p:cNvPr id="10" name="图片 9" descr="whiteboard_exported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143000"/>
            <a:ext cx="6821170" cy="10360025"/>
          </a:xfrm>
          <a:prstGeom prst="rect">
            <a:avLst/>
          </a:prstGeom>
        </p:spPr>
      </p:pic>
      <p:pic>
        <p:nvPicPr>
          <p:cNvPr id="9" name="图片 8" descr="1352395-20190226093936766-5210340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57200"/>
            <a:ext cx="4427220" cy="3354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8825"/>
            <a:ext cx="50057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3820" algn="l"/>
                <a:tab pos="1944370" algn="l"/>
              </a:tabLst>
            </a:pPr>
            <a:r>
              <a:rPr sz="6000" spc="-25" dirty="0"/>
              <a:t>Pre</a:t>
            </a:r>
            <a:r>
              <a:rPr sz="6000" dirty="0"/>
              <a:t>	</a:t>
            </a:r>
            <a:r>
              <a:rPr sz="6000" spc="-50" dirty="0"/>
              <a:t>-</a:t>
            </a:r>
            <a:r>
              <a:rPr sz="6000" dirty="0"/>
              <a:t>	</a:t>
            </a:r>
            <a:r>
              <a:rPr sz="6000" spc="-15" dirty="0"/>
              <a:t>需求相关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45769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5362574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159000"/>
            <a:ext cx="10460990" cy="3785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理论上，需求的提出会分为以下几个步骤：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用户调研 → 用户需求 → 产品需求（功能/非功能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marR="4493260" indent="-552450">
              <a:lnSpc>
                <a:spcPct val="172000"/>
              </a:lnSpc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在PRD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中，我们重点呈现的是“产品需求”，包括：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功能性需求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产品中具体的、可供用户使用和感知的功能，如：登陆注册、导航、文件下载  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etc.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非功能性需求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一般偏向产品的性能需求，如：响应速度需求、测试环境需求、安全需求  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etc.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27380" y="192182"/>
            <a:ext cx="10406887" cy="65555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492250"/>
            <a:ext cx="3073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5" dirty="0"/>
              <a:t>用户需求</a:t>
            </a:r>
            <a:endParaRPr sz="6000"/>
          </a:p>
        </p:txBody>
      </p:sp>
      <p:sp>
        <p:nvSpPr>
          <p:cNvPr id="3" name="object 3"/>
          <p:cNvSpPr/>
          <p:nvPr/>
        </p:nvSpPr>
        <p:spPr>
          <a:xfrm>
            <a:off x="752474" y="2905124"/>
            <a:ext cx="66675" cy="1247775"/>
          </a:xfrm>
          <a:custGeom>
            <a:avLst/>
            <a:gdLst/>
            <a:ahLst/>
            <a:cxnLst/>
            <a:rect l="l" t="t" r="r" b="b"/>
            <a:pathLst>
              <a:path w="66675" h="1247775">
                <a:moveTo>
                  <a:pt x="66674" y="1247774"/>
                </a:moveTo>
                <a:lnTo>
                  <a:pt x="0" y="1247774"/>
                </a:lnTo>
                <a:lnTo>
                  <a:pt x="0" y="0"/>
                </a:lnTo>
                <a:lnTo>
                  <a:pt x="66674" y="0"/>
                </a:lnTo>
                <a:lnTo>
                  <a:pt x="66674" y="12477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5012" y="2804795"/>
            <a:ext cx="10253980" cy="2406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815"/>
              </a:spcBef>
            </a:pPr>
            <a:r>
              <a:rPr sz="2150" spc="2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由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UML</a:t>
            </a:r>
            <a:r>
              <a:rPr sz="2150" spc="3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图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&amp;</a:t>
            </a:r>
            <a:r>
              <a:rPr sz="2150" spc="6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Use</a:t>
            </a:r>
            <a:r>
              <a:rPr sz="2150" spc="6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Case</a:t>
            </a:r>
            <a:r>
              <a:rPr sz="2150" spc="-1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支撑的迷惑模块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357505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"A</a:t>
            </a:r>
            <a:r>
              <a:rPr sz="2150" spc="3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description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of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a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set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of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interaction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sequences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that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a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system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performs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to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provide</a:t>
            </a:r>
            <a:r>
              <a:rPr sz="2150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spc="-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a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result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of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ovservable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or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measurable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value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to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one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or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more</a:t>
            </a:r>
            <a:r>
              <a:rPr sz="2150" spc="4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spc="-1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actors."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该模块的内容是从用户调研中抽象得到的</a:t>
            </a:r>
            <a:r>
              <a:rPr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orz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主要内容是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Use</a:t>
            </a:r>
            <a:r>
              <a:rPr sz="2150" spc="1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Case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88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Use</a:t>
            </a:r>
            <a:r>
              <a:rPr spc="10" dirty="0"/>
              <a:t> </a:t>
            </a:r>
            <a:r>
              <a:rPr dirty="0"/>
              <a:t>Case</a:t>
            </a:r>
            <a:r>
              <a:rPr spc="15" dirty="0"/>
              <a:t> </a:t>
            </a:r>
            <a:r>
              <a:rPr spc="-10" dirty="0"/>
              <a:t>Diagram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9986" y="2105025"/>
            <a:ext cx="10050646" cy="3200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4479" y="615102"/>
            <a:ext cx="10118565" cy="58251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6198" y="766762"/>
            <a:ext cx="10350696" cy="5324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6577" y="894309"/>
            <a:ext cx="10254137" cy="51084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71181" y="845211"/>
            <a:ext cx="10039243" cy="5154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692150"/>
            <a:ext cx="3835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功能性需求</a:t>
            </a:r>
            <a:endParaRPr sz="6000"/>
          </a:p>
        </p:txBody>
      </p:sp>
      <p:sp>
        <p:nvSpPr>
          <p:cNvPr id="3" name="object 3"/>
          <p:cNvSpPr/>
          <p:nvPr/>
        </p:nvSpPr>
        <p:spPr>
          <a:xfrm>
            <a:off x="752474" y="2105024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40994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8957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38149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857749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092325"/>
            <a:ext cx="6744334" cy="3919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125"/>
              </a:spcBef>
            </a:pPr>
            <a:r>
              <a:rPr sz="2150" spc="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这一步实现了从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User</a:t>
            </a:r>
            <a:r>
              <a:rPr sz="2150" spc="7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View</a:t>
            </a:r>
            <a:r>
              <a:rPr sz="2150" spc="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到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Developer</a:t>
            </a:r>
            <a:r>
              <a:rPr sz="2150" spc="8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View</a:t>
            </a:r>
            <a:r>
              <a:rPr sz="2150" spc="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 的转变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4513580" indent="-552450">
              <a:lnSpc>
                <a:spcPct val="172000"/>
              </a:lnSpc>
              <a:spcBef>
                <a:spcPts val="75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需要包含的内容：</a:t>
            </a: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需求类型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5066030">
              <a:lnSpc>
                <a:spcPct val="147000"/>
              </a:lnSpc>
              <a:spcBef>
                <a:spcPts val="35"/>
              </a:spcBef>
            </a:pP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需求名称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优先级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其他说明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描述使用者、使用场景、使用步骤、输出结果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可能还要塞一些 时序图 + 活动图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474" y="866775"/>
            <a:ext cx="10696574" cy="51244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692150"/>
            <a:ext cx="4597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非功能性需求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1002982" y="1981200"/>
            <a:ext cx="9207818" cy="39916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93370" algn="l"/>
              </a:tabLst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产品性能需求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lvl="1" indent="-342900">
              <a:spcBef>
                <a:spcPts val="1920"/>
              </a:spcBef>
              <a:buFont typeface="Arial" panose="020B0604020202020204" pitchFamily="34" charset="0"/>
              <a:buChar char="•"/>
            </a:pPr>
            <a:r>
              <a:rPr sz="2150" spc="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用户承载量需求，如：支持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2w</a:t>
            </a:r>
            <a:r>
              <a:rPr sz="2150" spc="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用户同时在线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lvl="1" indent="-342900">
              <a:spcBef>
                <a:spcPts val="1170"/>
              </a:spcBef>
              <a:buFont typeface="Arial" panose="020B0604020202020204" pitchFamily="34" charset="0"/>
              <a:buChar char="•"/>
            </a:pPr>
            <a:r>
              <a:rPr sz="2150" spc="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产品响应速度，如：网络情况良好时，页面跳转速度 &lt; </a:t>
            </a:r>
            <a:r>
              <a:rPr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5s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920"/>
              </a:spcBef>
              <a:buAutoNum type="arabicPeriod" startAt="2"/>
              <a:tabLst>
                <a:tab pos="293370" algn="l"/>
              </a:tabLst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测试环境需求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indent="-342900">
              <a:lnSpc>
                <a:spcPct val="100000"/>
              </a:lnSpc>
              <a:spcBef>
                <a:spcPts val="645"/>
              </a:spcBef>
              <a:buFont typeface="Arial" panose="020B0604020202020204" pitchFamily="34" charset="0"/>
              <a:buChar char="•"/>
            </a:pPr>
            <a:r>
              <a:rPr sz="2150" spc="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测试环境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&amp;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正式上线环境的需求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245"/>
              </a:spcBef>
              <a:buAutoNum type="arabicPeriod" startAt="3"/>
              <a:tabLst>
                <a:tab pos="293370" algn="l"/>
              </a:tabLst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数据统计需求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marR="321945" indent="-342900">
              <a:lnSpc>
                <a:spcPct val="145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sz="2150" spc="2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自定义的数据统计需求，如：相关事件埋点痛击需求</a:t>
            </a:r>
            <a:r>
              <a:rPr sz="2150" spc="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endParaRPr lang="en-US" sz="2150" spc="5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636270" marR="321945" indent="-342900">
              <a:lnSpc>
                <a:spcPct val="145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sz="2150" spc="2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接入第三方数据统计接口需求，如：接入友盟统计功能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39825"/>
            <a:ext cx="60750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93615" algn="l"/>
              </a:tabLst>
            </a:pPr>
            <a:r>
              <a:rPr sz="6000" dirty="0"/>
              <a:t>非功能性需</a:t>
            </a:r>
            <a:r>
              <a:rPr sz="6000" spc="-50" dirty="0"/>
              <a:t>求</a:t>
            </a:r>
            <a:r>
              <a:rPr sz="6000" dirty="0"/>
              <a:t>	(续</a:t>
            </a:r>
            <a:r>
              <a:rPr sz="6000" spc="-50" dirty="0"/>
              <a:t>)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914400" y="2514600"/>
            <a:ext cx="9601200" cy="31858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AutoNum type="arabicPeriod" startAt="4"/>
              <a:tabLst>
                <a:tab pos="293370" algn="l"/>
              </a:tabLst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安全性需求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marR="5806440" indent="-342900">
              <a:lnSpc>
                <a:spcPct val="148000"/>
              </a:lnSpc>
              <a:spcBef>
                <a:spcPts val="670"/>
              </a:spcBef>
              <a:buFont typeface="Arial" panose="020B0604020202020204" pitchFamily="34" charset="0"/>
              <a:buChar char="•"/>
            </a:pPr>
            <a:r>
              <a:rPr sz="2150" spc="-1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恶意注册防范需求</a:t>
            </a:r>
            <a:endParaRPr lang="en-US" sz="2150" spc="-50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636270" marR="5806440" indent="-342900">
              <a:lnSpc>
                <a:spcPct val="148000"/>
              </a:lnSpc>
              <a:spcBef>
                <a:spcPts val="670"/>
              </a:spcBef>
              <a:buFont typeface="Arial" panose="020B0604020202020204" pitchFamily="34" charset="0"/>
              <a:buChar char="•"/>
            </a:pPr>
            <a:r>
              <a:rPr sz="2150" spc="-1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恶意刷数据防范需求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293370" indent="-280670">
              <a:lnSpc>
                <a:spcPct val="100000"/>
              </a:lnSpc>
              <a:spcBef>
                <a:spcPts val="1845"/>
              </a:spcBef>
              <a:buAutoNum type="arabicPeriod" startAt="5"/>
              <a:tabLst>
                <a:tab pos="293370" algn="l"/>
              </a:tabLst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兼容性需求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636270" marR="5080" indent="-342900">
              <a:lnSpc>
                <a:spcPct val="145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150" spc="-5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客户端，如：各种主流手机设备均可正常使用，无显示异常，无闪退</a:t>
            </a:r>
            <a:endParaRPr lang="en-US" sz="2150" spc="-50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636270" marR="5080" indent="-342900">
              <a:lnSpc>
                <a:spcPct val="145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15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WEB端，如：个主流的尺寸及终端的WEB</a:t>
            </a:r>
            <a:r>
              <a:rPr sz="2150" spc="-10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端显示页面均无异常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35200"/>
            <a:ext cx="1352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Else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81952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145" y="3481070"/>
            <a:ext cx="10025380" cy="99123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spc="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项目规划：交代产品的风险分析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&amp;</a:t>
            </a:r>
            <a:r>
              <a:rPr sz="2150" spc="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应对策略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附录：原型，MRD，BRD，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技术文档，术语列表...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30529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4598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需求文档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spc="-20" dirty="0">
                <a:sym typeface="+mn-ea"/>
              </a:rPr>
              <a:t>修改：晚自习</a:t>
            </a:r>
            <a:endParaRPr lang="zh-CN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25625"/>
            <a:ext cx="497998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6000" spc="-10" dirty="0">
                <a:latin typeface="等线" panose="02010600030101010101" charset="-122"/>
                <a:ea typeface="等线" panose="02010600030101010101" charset="-122"/>
              </a:rPr>
              <a:t>实例：</a:t>
            </a:r>
            <a:r>
              <a:rPr lang="en-US" altLang="zh-CN" sz="6000" spc="-10" dirty="0">
                <a:latin typeface="等线" panose="02010600030101010101" charset="-122"/>
                <a:ea typeface="等线" panose="02010600030101010101" charset="-122"/>
              </a:rPr>
              <a:t>Notify</a:t>
            </a:r>
            <a:endParaRPr sz="60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5012" y="3419157"/>
            <a:ext cx="7559675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altLang="zh-CN" b="0" u="sng" dirty="0">
                <a:solidFill>
                  <a:srgbClr val="CCCCCC"/>
                </a:solidFill>
                <a:latin typeface="Consolas" panose="020B0609020204030204" pitchFamily="49" charset="0"/>
                <a:hlinkClick r:id="rId1"/>
              </a:rPr>
              <a:t>【Notify 2023】</a:t>
            </a:r>
            <a:r>
              <a:rPr lang="zh-CN" altLang="en-US" b="0" u="sng" dirty="0">
                <a:solidFill>
                  <a:srgbClr val="CCCCCC"/>
                </a:solidFill>
                <a:latin typeface="Consolas" panose="020B0609020204030204" pitchFamily="49" charset="0"/>
                <a:hlinkClick r:id="rId1"/>
              </a:rPr>
              <a:t>产品能力</a:t>
            </a:r>
            <a:r>
              <a:rPr lang="en-US" altLang="zh-CN" b="0" u="sng" dirty="0">
                <a:solidFill>
                  <a:srgbClr val="CCCCCC"/>
                </a:solidFill>
                <a:latin typeface="Consolas" panose="020B0609020204030204" pitchFamily="49" charset="0"/>
                <a:hlinkClick r:id="rId1"/>
              </a:rPr>
              <a:t>&amp;</a:t>
            </a:r>
            <a:r>
              <a:rPr lang="zh-CN" altLang="en-US" b="0" u="sng" dirty="0">
                <a:solidFill>
                  <a:srgbClr val="CCCCCC"/>
                </a:solidFill>
                <a:latin typeface="Consolas" panose="020B0609020204030204" pitchFamily="49" charset="0"/>
                <a:hlinkClick r:id="rId1"/>
              </a:rPr>
              <a:t>规划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2205</Words>
  <Application>WPS 演示</Application>
  <PresentationFormat>宽屏</PresentationFormat>
  <Paragraphs>204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等线</vt:lpstr>
      <vt:lpstr>微软雅黑</vt:lpstr>
      <vt:lpstr>Calibri</vt:lpstr>
      <vt:lpstr>Arial Unicode MS</vt:lpstr>
      <vt:lpstr>Consolas</vt:lpstr>
      <vt:lpstr>Office Theme</vt:lpstr>
      <vt:lpstr>PRD产品需求文档</vt:lpstr>
      <vt:lpstr>PRD是什么</vt:lpstr>
      <vt:lpstr>为什么要撰写PRD</vt:lpstr>
      <vt:lpstr>PRD撰写流程</vt:lpstr>
      <vt:lpstr>PRD内容结构</vt:lpstr>
      <vt:lpstr>头部</vt:lpstr>
      <vt:lpstr>版本与修订记录</vt:lpstr>
      <vt:lpstr>文档信息</vt:lpstr>
      <vt:lpstr>PowerPoint 演示文稿</vt:lpstr>
      <vt:lpstr>产品信息</vt:lpstr>
      <vt:lpstr>产品结构图</vt:lpstr>
      <vt:lpstr>Pre	-	需求相关</vt:lpstr>
      <vt:lpstr>PowerPoint 演示文稿</vt:lpstr>
      <vt:lpstr>用户需求</vt:lpstr>
      <vt:lpstr>Use Case Diagram</vt:lpstr>
      <vt:lpstr>PowerPoint 演示文稿</vt:lpstr>
      <vt:lpstr>PowerPoint 演示文稿</vt:lpstr>
      <vt:lpstr>PowerPoint 演示文稿</vt:lpstr>
      <vt:lpstr>PowerPoint 演示文稿</vt:lpstr>
      <vt:lpstr>功能性需求</vt:lpstr>
      <vt:lpstr>PowerPoint 演示文稿</vt:lpstr>
      <vt:lpstr>非功能性需求</vt:lpstr>
      <vt:lpstr>非功能性需求	(续)</vt:lpstr>
      <vt:lpstr>Else</vt:lpstr>
      <vt:lpstr>实例：Notify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翁祖翔</cp:lastModifiedBy>
  <cp:revision>10</cp:revision>
  <dcterms:created xsi:type="dcterms:W3CDTF">2024-09-28T05:58:00Z</dcterms:created>
  <dcterms:modified xsi:type="dcterms:W3CDTF">2025-10-24T06:54:04Z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2022-10-26T16:00:00Z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2024-09-28T16:00:00Z</vt:filetime>
  </property>
  <property fmtid="{D5CDD505-2E9C-101B-9397-08002B2CF9AE}" pid="5" name="Producer">
    <vt:lpwstr>Created by Marp</vt:lpwstr>
  </property>
  <property fmtid="{D5CDD505-2E9C-101B-9397-08002B2CF9AE}" pid="6" name="ICV">
    <vt:lpwstr>11B062FA4EFB4C8FBC6198FF20D9DCD6_12</vt:lpwstr>
  </property>
  <property fmtid="{D5CDD505-2E9C-101B-9397-08002B2CF9AE}" pid="7" name="KSOProductBuildVer">
    <vt:lpwstr>2052-12.1.0.22529</vt:lpwstr>
  </property>
</Properties>
</file>