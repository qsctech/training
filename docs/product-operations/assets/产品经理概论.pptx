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3" d="100"/>
          <a:sy n="73" d="100"/>
        </p:scale>
        <p:origin x="206" y="41"/>
      </p:cViewPr>
      <p:guideLst>
        <p:guide orient="horz" pos="2880"/>
        <p:guide pos="21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2144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273300"/>
            <a:ext cx="751649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214466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80293" y="3595369"/>
            <a:ext cx="4168775" cy="844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214466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214466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214466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3050" y="215900"/>
            <a:ext cx="2882900" cy="368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214466"/>
                </a:solidFill>
                <a:latin typeface="黑体" panose="02010609060101010101" charset="-122"/>
                <a:cs typeface="黑体" panose="0201060906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1104582"/>
            <a:ext cx="6277609" cy="1961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defRPr>
            </a:lvl1pPr>
          </a:lstStyle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2292350"/>
            <a:ext cx="4597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1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产品经理概论</a:t>
            </a:r>
            <a:endParaRPr sz="600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012" y="3885882"/>
            <a:ext cx="1979930" cy="446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202</a:t>
            </a:r>
            <a:r>
              <a:rPr lang="en-US" altLang="en-US"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5</a:t>
            </a:r>
            <a:r>
              <a:rPr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-</a:t>
            </a:r>
            <a:r>
              <a:rPr lang="en-US" altLang="en-US"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10</a:t>
            </a:r>
            <a:r>
              <a:rPr sz="28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-</a:t>
            </a:r>
            <a:r>
              <a:rPr lang="en-US" sz="2800" b="1" spc="-25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24</a:t>
            </a:r>
            <a:endParaRPr sz="2800" dirty="0"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en-US" spc="-20" dirty="0"/>
              <a:t> </a:t>
            </a:r>
            <a:r>
              <a:rPr lang="zh-CN" altLang="en-US" spc="-20" dirty="0"/>
              <a:t>修改：</a:t>
            </a:r>
            <a:r>
              <a:rPr lang="zh-CN" altLang="en-US" spc="-20" dirty="0"/>
              <a:t>晚自习</a:t>
            </a:r>
            <a:endParaRPr lang="zh-CN" altLang="en-US" spc="-2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95057"/>
            <a:ext cx="146177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5" dirty="0">
                <a:latin typeface="等线" panose="02010600030101010101" charset="-122"/>
                <a:cs typeface="等线" panose="02010600030101010101" charset="-122"/>
              </a:rPr>
              <a:t>课程简介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012" y="1747520"/>
            <a:ext cx="10521950" cy="3315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52450">
              <a:lnSpc>
                <a:spcPct val="128000"/>
              </a:lnSpc>
              <a:spcBef>
                <a:spcPts val="9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《产品经理概论》是产品研发中心的一门</a:t>
            </a:r>
            <a:r>
              <a:rPr sz="2150" b="0" dirty="0">
                <a:solidFill>
                  <a:srgbClr val="404040"/>
                </a:solidFill>
                <a:latin typeface="Arial" panose="020B0604020202090204" pitchFamily="34" charset="0"/>
                <a:cs typeface="等线" panose="02010600030101010101" charset="-122"/>
              </a:rPr>
              <a:t>通识性</a:t>
            </a:r>
            <a:r>
              <a:rPr sz="2150" b="0" spc="-5" dirty="0">
                <a:solidFill>
                  <a:srgbClr val="404040"/>
                </a:solidFill>
                <a:latin typeface="Arial" panose="020B0604020202090204" pitchFamily="34" charset="0"/>
                <a:cs typeface="等线" panose="02010600030101010101" charset="-122"/>
              </a:rPr>
              <a:t>内训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，目的是让小朋友拥有对于产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品经理（QSC</a:t>
            </a:r>
            <a:r>
              <a:rPr sz="2150" spc="29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Ver.）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的基本认识。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</a:pPr>
            <a:r>
              <a:rPr sz="2800" b="1" spc="-1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课程大纲</a:t>
            </a:r>
            <a:endParaRPr sz="280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 indent="-280670">
              <a:lnSpc>
                <a:spcPct val="100000"/>
              </a:lnSpc>
              <a:spcBef>
                <a:spcPts val="2465"/>
              </a:spcBef>
              <a:buAutoNum type="arabicPeriod"/>
              <a:tabLst>
                <a:tab pos="564515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产品经理</a:t>
            </a:r>
            <a:r>
              <a:rPr sz="2150" b="1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干什么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 indent="-28067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4515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产品经理</a:t>
            </a:r>
            <a:r>
              <a:rPr sz="2150" b="1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会什么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 indent="-28067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4515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产品经理的</a:t>
            </a:r>
            <a:r>
              <a:rPr sz="2150" b="1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工作流程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628457"/>
            <a:ext cx="2770188" cy="446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0" dirty="0" err="1">
                <a:latin typeface="等线" panose="02010600030101010101" charset="-122"/>
                <a:cs typeface="等线" panose="02010600030101010101" charset="-122"/>
              </a:rPr>
              <a:t>免责声明</a:t>
            </a:r>
            <a:endParaRPr sz="2800" dirty="0">
              <a:latin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2552699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03847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524249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000499"/>
            <a:ext cx="76200" cy="76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214245"/>
            <a:ext cx="9860280" cy="2810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64515" marR="2381250">
              <a:lnSpc>
                <a:spcPct val="148000"/>
              </a:lnSpc>
              <a:spcBef>
                <a:spcPts val="9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显然，本</a:t>
            </a:r>
            <a:r>
              <a:rPr lang="en-US" altLang="en-US"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PPT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十分简陋，暂不接受对于动画缺失的控诉</a:t>
            </a:r>
            <a:r>
              <a:rPr lang="zh-CN" altLang="en-US" sz="2150" spc="-5" dirty="0">
                <a:solidFill>
                  <a:srgbClr val="404040"/>
                </a:solidFill>
                <a:latin typeface="等线" panose="02010600030101010101" charset="-122"/>
                <a:ea typeface="宋体" pitchFamily="2" charset="-122"/>
                <a:cs typeface="等线" panose="02010600030101010101" charset="-122"/>
              </a:rPr>
              <a:t>（</a:t>
            </a:r>
            <a:endParaRPr sz="2150" spc="-5" dirty="0">
              <a:solidFill>
                <a:srgbClr val="40404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564515" marR="2381250">
              <a:lnSpc>
                <a:spcPct val="148000"/>
              </a:lnSpc>
              <a:spcBef>
                <a:spcPts val="90"/>
              </a:spcBef>
            </a:pPr>
            <a:r>
              <a:rPr lang="en-US" altLang="en-US"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PPT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具有强烈的主观色彩，</a:t>
            </a:r>
            <a:r>
              <a:rPr sz="2150" b="1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观点仅供参考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 marR="5080">
              <a:lnSpc>
                <a:spcPct val="145000"/>
              </a:lnSpc>
              <a:spcBef>
                <a:spcPts val="8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本</a:t>
            </a:r>
            <a:r>
              <a:rPr lang="en-US" altLang="en-US"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PPT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对于“产品经理”的界定与QSC的工作模式有强相关性，</a:t>
            </a:r>
            <a:r>
              <a:rPr sz="2150" b="1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不具备普适性</a:t>
            </a:r>
            <a:endParaRPr sz="2150" b="1" spc="-10" dirty="0">
              <a:solidFill>
                <a:srgbClr val="40404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564515" marR="5080">
              <a:lnSpc>
                <a:spcPct val="145000"/>
              </a:lnSpc>
              <a:spcBef>
                <a:spcPts val="8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此外，由于苯人是菜鸡，暂不受理对于叙述内容毫无逻辑的投诉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以上都可以接受的话，就让我们进入正题吧！</a:t>
            </a:r>
            <a:endParaRPr sz="280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2473325"/>
            <a:ext cx="59924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5160" algn="l"/>
              </a:tabLst>
            </a:pPr>
            <a:r>
              <a:rPr sz="6000" b="1" spc="-5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1</a:t>
            </a:r>
            <a:r>
              <a:rPr sz="6000" b="1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	</a:t>
            </a:r>
            <a:r>
              <a:rPr sz="6000" b="1" spc="-1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产品经理干什么</a:t>
            </a:r>
            <a:endParaRPr sz="600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2474" y="3886199"/>
            <a:ext cx="66675" cy="419100"/>
          </a:xfrm>
          <a:custGeom>
            <a:avLst/>
            <a:gdLst/>
            <a:ahLst/>
            <a:cxnLst/>
            <a:rect l="l" t="t" r="r" b="b"/>
            <a:pathLst>
              <a:path w="66675" h="419100">
                <a:moveTo>
                  <a:pt x="66674" y="419099"/>
                </a:moveTo>
                <a:lnTo>
                  <a:pt x="0" y="419099"/>
                </a:lnTo>
                <a:lnTo>
                  <a:pt x="0" y="0"/>
                </a:lnTo>
                <a:lnTo>
                  <a:pt x="66674" y="0"/>
                </a:lnTo>
                <a:lnTo>
                  <a:pt x="66674" y="419099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0293" y="3873500"/>
            <a:ext cx="2787650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至少是理论上该干什么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37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spc="-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0" y="457200"/>
            <a:ext cx="2743199" cy="59340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1009332"/>
            <a:ext cx="4445000" cy="4716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先扯点远的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12700" marR="5080">
              <a:lnSpc>
                <a:spcPct val="128000"/>
              </a:lnSpc>
              <a:spcBef>
                <a:spcPts val="17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首先，产品（至少是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成功的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产品）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是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为什么而出现的？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是因为存在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需求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！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用户希望有能解决某些问题的工具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举个栗子：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为了决定今天穿什么的世纪难题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 marR="5080">
              <a:lnSpc>
                <a:spcPts val="3300"/>
              </a:lnSpc>
              <a:spcBef>
                <a:spcPts val="15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用户更需要知道两天气温的</a:t>
            </a:r>
            <a:r>
              <a:rPr sz="2150" b="1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相对偏差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而非今日气温的</a:t>
            </a:r>
            <a:r>
              <a:rPr sz="2150" b="1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绝对数据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因此，如右图所示的产品应运而生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3050" y="215900"/>
            <a:ext cx="23114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10" dirty="0"/>
              <a:t>产品经理干什么</a:t>
            </a:r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5012" y="933132"/>
            <a:ext cx="4534535" cy="4911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继续扯点远的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12700" marR="373380">
              <a:lnSpc>
                <a:spcPct val="128000"/>
              </a:lnSpc>
              <a:spcBef>
                <a:spcPts val="17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暑假调研时，CB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问了“产品经理...?”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HR表示：“啥？你说的是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策划</a:t>
            </a:r>
            <a:r>
              <a:rPr sz="2150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吧！”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此外，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很多公司招聘tag</a:t>
            </a:r>
            <a:r>
              <a:rPr sz="2150" spc="10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只写 </a:t>
            </a:r>
            <a:r>
              <a:rPr sz="2150" b="1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“产品策划”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此刻，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你又解锁了PM</a:t>
            </a:r>
            <a:r>
              <a:rPr sz="2150" spc="3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的一个关键词 - </a:t>
            </a:r>
            <a:r>
              <a:rPr sz="2150" b="1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“策划”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对于QSC</a:t>
            </a:r>
            <a:r>
              <a:rPr sz="2150" spc="-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来说：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 marR="370205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主业是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交互设计</a:t>
            </a:r>
            <a:endParaRPr sz="2150" b="1" dirty="0">
              <a:solidFill>
                <a:srgbClr val="40404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12700" marR="370205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副业可能有</a:t>
            </a:r>
            <a:r>
              <a:rPr sz="2150" b="1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小游戏机制设计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3050" y="215900"/>
            <a:ext cx="23114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10" dirty="0"/>
              <a:t>产品经理干什么</a:t>
            </a:r>
            <a:endParaRPr spc="-10" dirty="0"/>
          </a:p>
        </p:txBody>
      </p:sp>
      <p:pic>
        <p:nvPicPr>
          <p:cNvPr id="6" name="图片 5" descr="7161925406431fc46b18482d12fa54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304800"/>
            <a:ext cx="6223000" cy="3007995"/>
          </a:xfrm>
          <a:prstGeom prst="rect">
            <a:avLst/>
          </a:prstGeom>
        </p:spPr>
      </p:pic>
      <p:pic>
        <p:nvPicPr>
          <p:cNvPr id="8" name="图片 7" descr="屏幕截图 2025-10-22 0840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705" y="2590800"/>
            <a:ext cx="6170295" cy="3973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2" name="object 2"/>
          <p:cNvSpPr txBox="1"/>
          <p:nvPr/>
        </p:nvSpPr>
        <p:spPr>
          <a:xfrm>
            <a:off x="735012" y="1009332"/>
            <a:ext cx="10386695" cy="4716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还是扯点远的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246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在QSC，“</a:t>
            </a:r>
            <a:r>
              <a:rPr sz="2150" spc="3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产品经理”理论上兼任 </a:t>
            </a:r>
            <a:r>
              <a:rPr sz="2150" b="1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“项目经理”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 marR="5080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（虽然现在不是了）但我们还是希望产品方向的小朋友能为手头的项目列出</a:t>
            </a:r>
            <a:r>
              <a:rPr sz="2150" b="1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Timetable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然后实时跟进落实情况（毕竟咕咕咕是不好的，是吧</a:t>
            </a:r>
            <a:r>
              <a:rPr sz="2150" spc="-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？）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3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另外，合并前产品的全称为 </a:t>
            </a:r>
            <a:r>
              <a:rPr sz="2150" b="1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“产品运营部门”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Which</a:t>
            </a:r>
            <a:r>
              <a:rPr sz="2150" spc="1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means</a:t>
            </a:r>
            <a:r>
              <a:rPr sz="2150" spc="13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b="1" spc="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“运营” 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也是我们工作的一部分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大概可以视为：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从应用商店评论区/反馈群的用户评价与反馈中发现  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不足&amp;</a:t>
            </a:r>
            <a:r>
              <a:rPr sz="2150" b="1" spc="-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新的需求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4707890">
              <a:lnSpc>
                <a:spcPct val="100000"/>
              </a:lnSpc>
              <a:spcBef>
                <a:spcPts val="720"/>
              </a:spcBef>
            </a:pP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+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帮助用户解决在使用过程中遇到的问题（AKA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客服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，but</a:t>
            </a:r>
            <a:r>
              <a:rPr sz="2150" spc="459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emmm...)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050" y="215900"/>
            <a:ext cx="23114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1</a:t>
            </a:r>
            <a:r>
              <a:rPr dirty="0"/>
              <a:t>	</a:t>
            </a:r>
            <a:r>
              <a:rPr spc="-10" dirty="0"/>
              <a:t>产品经理干什么</a:t>
            </a: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266507"/>
            <a:ext cx="182753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dirty="0">
                <a:latin typeface="等线" panose="02010600030101010101" charset="-122"/>
                <a:cs typeface="等线" panose="02010600030101010101" charset="-122"/>
              </a:rPr>
              <a:t>To</a:t>
            </a:r>
            <a:r>
              <a:rPr sz="2800" b="1" spc="5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800" b="1" dirty="0">
                <a:latin typeface="等线" panose="02010600030101010101" charset="-122"/>
                <a:cs typeface="等线" panose="02010600030101010101" charset="-122"/>
              </a:rPr>
              <a:t>Sum</a:t>
            </a:r>
            <a:r>
              <a:rPr sz="2800" b="1" spc="5" dirty="0"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800" b="1" spc="-35" dirty="0">
                <a:latin typeface="等线" panose="02010600030101010101" charset="-122"/>
                <a:cs typeface="等线" panose="02010600030101010101" charset="-122"/>
              </a:rPr>
              <a:t>Up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2474" y="5133974"/>
            <a:ext cx="66675" cy="409575"/>
          </a:xfrm>
          <a:custGeom>
            <a:avLst/>
            <a:gdLst/>
            <a:ahLst/>
            <a:cxnLst/>
            <a:rect l="l" t="t" r="r" b="b"/>
            <a:pathLst>
              <a:path w="66675" h="409575">
                <a:moveTo>
                  <a:pt x="66674" y="409574"/>
                </a:moveTo>
                <a:lnTo>
                  <a:pt x="0" y="409574"/>
                </a:lnTo>
                <a:lnTo>
                  <a:pt x="0" y="0"/>
                </a:lnTo>
                <a:lnTo>
                  <a:pt x="66674" y="0"/>
                </a:lnTo>
                <a:lnTo>
                  <a:pt x="66674" y="409574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35012" y="2168525"/>
            <a:ext cx="8892540" cy="330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4980" algn="l"/>
                <a:tab pos="2336165" algn="l"/>
                <a:tab pos="4069715" algn="l"/>
                <a:tab pos="4660265" algn="l"/>
              </a:tabLst>
            </a:pPr>
            <a:r>
              <a:rPr sz="6000" b="1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需</a:t>
            </a:r>
            <a:r>
              <a:rPr sz="6000" b="1" spc="-5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求</a:t>
            </a:r>
            <a:r>
              <a:rPr sz="6000" b="1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	</a:t>
            </a:r>
            <a:r>
              <a:rPr sz="6000" b="1" spc="-5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-</a:t>
            </a:r>
            <a:r>
              <a:rPr sz="6000" b="1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	策</a:t>
            </a:r>
            <a:r>
              <a:rPr sz="6000" b="1" spc="-5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划</a:t>
            </a:r>
            <a:r>
              <a:rPr sz="6000" b="1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	</a:t>
            </a:r>
            <a:r>
              <a:rPr sz="6000" b="1" spc="-5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-</a:t>
            </a:r>
            <a:r>
              <a:rPr sz="6000" b="1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	运</a:t>
            </a:r>
            <a:r>
              <a:rPr sz="6000" b="1" spc="-5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营</a:t>
            </a:r>
            <a:endParaRPr sz="600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385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是构成QSC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产品经理工作的三个要素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b="1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发现用户需求 - 策划解决用户需求 - 运营产品以应对客户持续增长的需求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AKA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“画饼”，就是产品经理的主要工作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357505">
              <a:lnSpc>
                <a:spcPct val="100000"/>
              </a:lnSpc>
              <a:spcBef>
                <a:spcPts val="1920"/>
              </a:spcBef>
            </a:pPr>
            <a:r>
              <a:rPr sz="2150" spc="2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虽然一般来说实体产出只有 </a:t>
            </a:r>
            <a:r>
              <a:rPr sz="2150" b="1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PPT&amp;文档&amp;</a:t>
            </a:r>
            <a:r>
              <a:rPr sz="2150" b="1" spc="4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低保真模型 </a:t>
            </a:r>
            <a:r>
              <a:rPr sz="2150" spc="-2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就是了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273050" y="215900"/>
            <a:ext cx="23114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z="2250" spc="-50" dirty="0">
                <a:solidFill>
                  <a:srgbClr val="214466"/>
                </a:solidFill>
                <a:latin typeface="黑体" panose="02010609060101010101" charset="-122"/>
                <a:cs typeface="黑体" panose="02010609060101010101" charset="-122"/>
              </a:rPr>
              <a:t>1</a:t>
            </a:r>
            <a:r>
              <a:rPr sz="2250" dirty="0">
                <a:solidFill>
                  <a:srgbClr val="214466"/>
                </a:solidFill>
                <a:latin typeface="黑体" panose="02010609060101010101" charset="-122"/>
                <a:cs typeface="黑体" panose="02010609060101010101" charset="-122"/>
              </a:rPr>
              <a:t>	</a:t>
            </a:r>
            <a:r>
              <a:rPr sz="2250" spc="-10" dirty="0">
                <a:solidFill>
                  <a:srgbClr val="214466"/>
                </a:solidFill>
                <a:latin typeface="黑体" panose="02010609060101010101" charset="-122"/>
                <a:cs typeface="黑体" panose="02010609060101010101" charset="-122"/>
              </a:rPr>
              <a:t>产品经理干什么</a:t>
            </a:r>
            <a:endParaRPr sz="2250"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273300"/>
            <a:ext cx="59924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5160" algn="l"/>
              </a:tabLst>
            </a:pPr>
            <a:r>
              <a:rPr sz="6000" b="1" spc="-50" dirty="0">
                <a:latin typeface="等线" panose="02010600030101010101" charset="-122"/>
                <a:cs typeface="等线" panose="02010600030101010101" charset="-122"/>
              </a:rPr>
              <a:t>2</a:t>
            </a:r>
            <a:r>
              <a:rPr sz="6000" b="1" dirty="0">
                <a:latin typeface="等线" panose="02010600030101010101" charset="-122"/>
                <a:cs typeface="等线" panose="02010600030101010101" charset="-122"/>
              </a:rPr>
              <a:t>	</a:t>
            </a:r>
            <a:r>
              <a:rPr sz="6000" b="1" spc="-10" dirty="0">
                <a:latin typeface="等线" panose="02010600030101010101" charset="-122"/>
                <a:cs typeface="等线" panose="02010600030101010101" charset="-122"/>
              </a:rPr>
              <a:t>产品经理会什么</a:t>
            </a:r>
            <a:endParaRPr sz="600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2474" y="3686174"/>
            <a:ext cx="66675" cy="828675"/>
          </a:xfrm>
          <a:custGeom>
            <a:avLst/>
            <a:gdLst/>
            <a:ahLst/>
            <a:cxnLst/>
            <a:rect l="l" t="t" r="r" b="b"/>
            <a:pathLst>
              <a:path w="66675" h="828675">
                <a:moveTo>
                  <a:pt x="66674" y="828674"/>
                </a:moveTo>
                <a:lnTo>
                  <a:pt x="0" y="828674"/>
                </a:lnTo>
                <a:lnTo>
                  <a:pt x="0" y="0"/>
                </a:lnTo>
                <a:lnTo>
                  <a:pt x="66674" y="0"/>
                </a:lnTo>
                <a:lnTo>
                  <a:pt x="66674" y="828674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0293" y="3595369"/>
            <a:ext cx="2511425" cy="8445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spc="-1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理论上该会什么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150" spc="-1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实际上，谁知道呢？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2" name="object 2"/>
          <p:cNvSpPr txBox="1"/>
          <p:nvPr/>
        </p:nvSpPr>
        <p:spPr>
          <a:xfrm>
            <a:off x="735012" y="1314132"/>
            <a:ext cx="10707370" cy="404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为了知道用户想要什么样的饼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254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您需要知道如何进行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用户调研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（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我该如何设计问卷，在访谈过程中应记录/注意什么)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460"/>
              </a:spcBef>
            </a:pP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为了说服甲方爸爸投资你的饼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246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您需要学会做（并不）花里胡哨的</a:t>
            </a:r>
            <a:r>
              <a:rPr lang="en-US" altLang="en-US"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PPT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，并掌握一定的presentation</a:t>
            </a:r>
            <a:r>
              <a:rPr sz="2150" spc="-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技巧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为了和团队成员有效沟通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246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您需要掌握基本的沟通技巧与组织开展小组会议的能力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050" y="215900"/>
            <a:ext cx="23114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10" dirty="0"/>
              <a:t>产品经理会什么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00274" y="1876424"/>
            <a:ext cx="1209675" cy="371475"/>
          </a:xfrm>
          <a:custGeom>
            <a:avLst/>
            <a:gdLst/>
            <a:ahLst/>
            <a:cxnLst/>
            <a:rect l="l" t="t" r="r" b="b"/>
            <a:pathLst>
              <a:path w="1209675" h="371475">
                <a:moveTo>
                  <a:pt x="115627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156277" y="0"/>
                </a:lnTo>
                <a:lnTo>
                  <a:pt x="1195588" y="19392"/>
                </a:lnTo>
                <a:lnTo>
                  <a:pt x="1209674" y="53397"/>
                </a:lnTo>
                <a:lnTo>
                  <a:pt x="1209674" y="318077"/>
                </a:lnTo>
                <a:lnTo>
                  <a:pt x="1190282" y="357389"/>
                </a:lnTo>
                <a:lnTo>
                  <a:pt x="1159993" y="371108"/>
                </a:lnTo>
                <a:lnTo>
                  <a:pt x="1156277" y="371474"/>
                </a:lnTo>
                <a:close/>
              </a:path>
            </a:pathLst>
          </a:custGeom>
          <a:solidFill>
            <a:srgbClr val="AFB8C1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为了便捷的画饼</a:t>
            </a:r>
            <a:endParaRPr spc="-10" dirty="0"/>
          </a:p>
          <a:p>
            <a:pPr marL="564515">
              <a:lnSpc>
                <a:spcPct val="100000"/>
              </a:lnSpc>
              <a:spcBef>
                <a:spcPts val="2540"/>
              </a:spcBef>
              <a:tabLst>
                <a:tab pos="1554480" algn="l"/>
              </a:tabLst>
            </a:pPr>
            <a:r>
              <a:rPr sz="2150" b="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您需</a:t>
            </a:r>
            <a:r>
              <a:rPr sz="2150" b="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要</a:t>
            </a:r>
            <a:r>
              <a:rPr sz="2150" b="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	</a:t>
            </a:r>
            <a:r>
              <a:rPr sz="1850" b="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Markdown</a:t>
            </a:r>
            <a:r>
              <a:rPr sz="1850" b="0" spc="-9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150" b="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，而不是可可爱爱没有脑袋</a:t>
            </a:r>
            <a:r>
              <a:rPr sz="2150" b="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的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460"/>
              </a:spcBef>
            </a:pP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</a:pPr>
            <a:r>
              <a:rPr spc="-10" dirty="0"/>
              <a:t>为了规范的画饼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7077074" y="1876424"/>
            <a:ext cx="685800" cy="371475"/>
          </a:xfrm>
          <a:custGeom>
            <a:avLst/>
            <a:gdLst/>
            <a:ahLst/>
            <a:cxnLst/>
            <a:rect l="l" t="t" r="r" b="b"/>
            <a:pathLst>
              <a:path w="685800" h="371475">
                <a:moveTo>
                  <a:pt x="63240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632402" y="0"/>
                </a:lnTo>
                <a:lnTo>
                  <a:pt x="671714" y="19392"/>
                </a:lnTo>
                <a:lnTo>
                  <a:pt x="685799" y="53397"/>
                </a:lnTo>
                <a:lnTo>
                  <a:pt x="685799" y="318077"/>
                </a:lnTo>
                <a:lnTo>
                  <a:pt x="666406" y="357389"/>
                </a:lnTo>
                <a:lnTo>
                  <a:pt x="636118" y="371108"/>
                </a:lnTo>
                <a:lnTo>
                  <a:pt x="632402" y="371474"/>
                </a:lnTo>
                <a:close/>
              </a:path>
            </a:pathLst>
          </a:custGeom>
          <a:solidFill>
            <a:srgbClr val="AFB8C1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148016" y="1854200"/>
            <a:ext cx="97980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1850" spc="2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14973" y="5295899"/>
            <a:ext cx="819150" cy="371475"/>
          </a:xfrm>
          <a:custGeom>
            <a:avLst/>
            <a:gdLst/>
            <a:ahLst/>
            <a:cxnLst/>
            <a:rect l="l" t="t" r="r" b="b"/>
            <a:pathLst>
              <a:path w="819150" h="371475">
                <a:moveTo>
                  <a:pt x="765753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4"/>
                </a:lnTo>
                <a:lnTo>
                  <a:pt x="53397" y="0"/>
                </a:lnTo>
                <a:lnTo>
                  <a:pt x="765753" y="0"/>
                </a:lnTo>
                <a:lnTo>
                  <a:pt x="805064" y="19391"/>
                </a:lnTo>
                <a:lnTo>
                  <a:pt x="819149" y="53397"/>
                </a:lnTo>
                <a:lnTo>
                  <a:pt x="819149" y="318077"/>
                </a:lnTo>
                <a:lnTo>
                  <a:pt x="799758" y="357389"/>
                </a:lnTo>
                <a:lnTo>
                  <a:pt x="769469" y="371108"/>
                </a:lnTo>
                <a:lnTo>
                  <a:pt x="765753" y="371474"/>
                </a:lnTo>
                <a:close/>
              </a:path>
            </a:pathLst>
          </a:custGeom>
          <a:solidFill>
            <a:srgbClr val="AFB8C1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5012" y="3359150"/>
            <a:ext cx="6130290" cy="22713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2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您需要知道常见产品文档的组成部分。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为了让设计爸爸知道你想要什么样的饼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564515" marR="169545">
              <a:lnSpc>
                <a:spcPct val="125000"/>
              </a:lnSpc>
              <a:spcBef>
                <a:spcPts val="1895"/>
              </a:spcBef>
              <a:tabLst>
                <a:tab pos="4869180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您需要掌握原型设计工具的基本使用技巧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。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为便于团队协作，建议您学会使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用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	</a:t>
            </a:r>
            <a:r>
              <a:rPr sz="18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figma</a:t>
            </a:r>
            <a:r>
              <a:rPr sz="1850" spc="2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3050" y="215900"/>
            <a:ext cx="23114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2</a:t>
            </a:r>
            <a:r>
              <a:rPr dirty="0"/>
              <a:t>	</a:t>
            </a:r>
            <a:r>
              <a:rPr spc="-10" dirty="0"/>
              <a:t>产品经理会什么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34695" y="2273300"/>
            <a:ext cx="7823200" cy="93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5160" algn="l"/>
              </a:tabLst>
            </a:pPr>
            <a:r>
              <a:rPr sz="6000" b="1" spc="-50" dirty="0">
                <a:latin typeface="等线" panose="02010600030101010101" charset="-122"/>
                <a:cs typeface="等线" panose="02010600030101010101" charset="-122"/>
              </a:rPr>
              <a:t>3</a:t>
            </a:r>
            <a:r>
              <a:rPr sz="6000" b="1" dirty="0">
                <a:latin typeface="等线" panose="02010600030101010101" charset="-122"/>
                <a:cs typeface="等线" panose="02010600030101010101" charset="-122"/>
              </a:rPr>
              <a:t>	</a:t>
            </a:r>
            <a:r>
              <a:rPr sz="6000" b="1" spc="-10" dirty="0">
                <a:latin typeface="等线" panose="02010600030101010101" charset="-122"/>
                <a:cs typeface="等线" panose="02010600030101010101" charset="-122"/>
              </a:rPr>
              <a:t>产品经理的工作流程</a:t>
            </a:r>
            <a:endParaRPr sz="600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2474" y="3686174"/>
            <a:ext cx="66675" cy="828675"/>
          </a:xfrm>
          <a:custGeom>
            <a:avLst/>
            <a:gdLst/>
            <a:ahLst/>
            <a:cxnLst/>
            <a:rect l="l" t="t" r="r" b="b"/>
            <a:pathLst>
              <a:path w="66675" h="828675">
                <a:moveTo>
                  <a:pt x="66674" y="828674"/>
                </a:moveTo>
                <a:lnTo>
                  <a:pt x="0" y="828674"/>
                </a:lnTo>
                <a:lnTo>
                  <a:pt x="0" y="0"/>
                </a:lnTo>
                <a:lnTo>
                  <a:pt x="66674" y="0"/>
                </a:lnTo>
                <a:lnTo>
                  <a:pt x="66674" y="828674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2150" b="0" spc="-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理想状态下让大饼照进显示的步骤</a:t>
            </a:r>
            <a:r>
              <a:rPr sz="2150" b="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当然欢迎大家成为</a:t>
            </a:r>
            <a:r>
              <a:rPr sz="2150" dirty="0">
                <a:solidFill>
                  <a:srgbClr val="57606A"/>
                </a:solidFill>
              </a:rPr>
              <a:t>全栈产品经理</a:t>
            </a:r>
            <a:r>
              <a:rPr sz="2150" b="0" spc="-50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！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4514849"/>
            <a:ext cx="66675" cy="409575"/>
          </a:xfrm>
          <a:custGeom>
            <a:avLst/>
            <a:gdLst/>
            <a:ahLst/>
            <a:cxnLst/>
            <a:rect l="l" t="t" r="r" b="b"/>
            <a:pathLst>
              <a:path w="66675" h="409575">
                <a:moveTo>
                  <a:pt x="66674" y="409574"/>
                </a:moveTo>
                <a:lnTo>
                  <a:pt x="0" y="409574"/>
                </a:lnTo>
                <a:lnTo>
                  <a:pt x="0" y="0"/>
                </a:lnTo>
                <a:lnTo>
                  <a:pt x="66674" y="0"/>
                </a:lnTo>
                <a:lnTo>
                  <a:pt x="66674" y="409574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35012" y="1920875"/>
            <a:ext cx="9501505" cy="2938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在QSC，一个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新产品/增量</a:t>
            </a: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的理想落地流程按涉及人员大概分为以下几个阶段：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indent="-280670">
              <a:lnSpc>
                <a:spcPct val="100000"/>
              </a:lnSpc>
              <a:spcBef>
                <a:spcPts val="1845"/>
              </a:spcBef>
              <a:buAutoNum type="arabicPeriod"/>
              <a:tabLst>
                <a:tab pos="564515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预备阶段（产品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）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indent="-28067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4515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UI细化（设计、产品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）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indent="-28067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4515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技术实现与测试（技术、产品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）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indent="-280670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564515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产品上线与运营（技术、产品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）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357505">
              <a:lnSpc>
                <a:spcPct val="100000"/>
              </a:lnSpc>
              <a:spcBef>
                <a:spcPts val="1920"/>
              </a:spcBef>
            </a:pPr>
            <a:r>
              <a:rPr sz="2150" spc="-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以上各阶段没有严格的时间顺序，也可能相互重叠.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828799"/>
            <a:ext cx="66675" cy="409575"/>
          </a:xfrm>
          <a:custGeom>
            <a:avLst/>
            <a:gdLst/>
            <a:ahLst/>
            <a:cxnLst/>
            <a:rect l="l" t="t" r="r" b="b"/>
            <a:pathLst>
              <a:path w="66675" h="409575">
                <a:moveTo>
                  <a:pt x="66674" y="409574"/>
                </a:moveTo>
                <a:lnTo>
                  <a:pt x="0" y="409574"/>
                </a:lnTo>
                <a:lnTo>
                  <a:pt x="0" y="0"/>
                </a:lnTo>
                <a:lnTo>
                  <a:pt x="66674" y="0"/>
                </a:lnTo>
                <a:lnTo>
                  <a:pt x="66674" y="409574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133724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062" y="3538537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062" y="4024312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062" y="4919662"/>
            <a:ext cx="85725" cy="857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1076007"/>
            <a:ext cx="9693275" cy="4592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预备阶段</a:t>
            </a:r>
            <a:endParaRPr sz="2800" dirty="0">
              <a:latin typeface="等线" panose="02010600030101010101" charset="-122"/>
              <a:cs typeface="等线" panose="02010600030101010101" charset="-122"/>
            </a:endParaRPr>
          </a:p>
          <a:p>
            <a:pPr marL="357505">
              <a:lnSpc>
                <a:spcPct val="100000"/>
              </a:lnSpc>
              <a:spcBef>
                <a:spcPts val="2465"/>
              </a:spcBef>
            </a:pPr>
            <a:r>
              <a:rPr sz="2150" spc="-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找到一张可画的饼？那么来张草稿吧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564515" marR="1110615" indent="-552450">
              <a:lnSpc>
                <a:spcPts val="4500"/>
              </a:lnSpc>
              <a:spcBef>
                <a:spcPts val="39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故事的开始可能是你突然有了一个绝妙的点子，或者只是单纯来锅了。为了确定甲方爸爸想吃什么样的饼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116965">
              <a:lnSpc>
                <a:spcPct val="100000"/>
              </a:lnSpc>
              <a:spcBef>
                <a:spcPts val="17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你需要对于甲方爸爸与目标用户群体展开调研，了解他们想要什么。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116965" marR="913130">
              <a:lnSpc>
                <a:spcPct val="128000"/>
              </a:lnSpc>
              <a:spcBef>
                <a:spcPts val="52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鉴于他们往往无法明确表述自己的需求，比如“五彩斑斓的黑”：你需要对他们的表述中存在的需求进行提取。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116965">
              <a:lnSpc>
                <a:spcPct val="100000"/>
              </a:lnSpc>
              <a:spcBef>
                <a:spcPts val="117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因为用户的理解可能不太全面，你需要通过脑暴对需求列表进行补全。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至此，你收获了一份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用户需求列表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。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1933574"/>
            <a:ext cx="76200" cy="76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743324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5012" y="856932"/>
            <a:ext cx="8864600" cy="50761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预备阶段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366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为了不被技术的老师们薄纱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72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你需要确定这些需求的可实现性。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marR="5080">
              <a:lnSpc>
                <a:spcPts val="3300"/>
              </a:lnSpc>
              <a:spcBef>
                <a:spcPts val="15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为此，你需要拿着排好优先级的需求列表和技术的老师们进行交流。该删的删，该改的改，该补的补。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161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为了说服甲方爸爸对你进行投资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72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你需要说明该饼的市场竞争力，最方便的途径无疑是拉踩同行。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marR="5080">
              <a:lnSpc>
                <a:spcPts val="3300"/>
              </a:lnSpc>
              <a:spcBef>
                <a:spcPts val="155"/>
              </a:spcBef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为此，你需要做一些竞品分析（或许，还有看起来很厉害的</a:t>
            </a:r>
            <a:r>
              <a:rPr lang="en-US" altLang="en-US"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PPT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）</a:t>
            </a:r>
            <a:endParaRPr sz="2150" spc="-50" dirty="0">
              <a:solidFill>
                <a:srgbClr val="40404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564515" marR="5080">
              <a:lnSpc>
                <a:spcPts val="3300"/>
              </a:lnSpc>
              <a:spcBef>
                <a:spcPts val="155"/>
              </a:spcBef>
            </a:pPr>
            <a:r>
              <a:rPr sz="2150" spc="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然后拿上写好的 </a:t>
            </a:r>
            <a:r>
              <a:rPr sz="2150" b="1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PRD（</a:t>
            </a:r>
            <a:r>
              <a:rPr sz="2150" b="1" spc="3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产品需求文档) 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开始你的表演。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281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完成上述步骤后，准备开始烙饼吧！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181099"/>
            <a:ext cx="66675" cy="409575"/>
          </a:xfrm>
          <a:custGeom>
            <a:avLst/>
            <a:gdLst/>
            <a:ahLst/>
            <a:cxnLst/>
            <a:rect l="l" t="t" r="r" b="b"/>
            <a:pathLst>
              <a:path w="66675" h="409575">
                <a:moveTo>
                  <a:pt x="66674" y="409574"/>
                </a:moveTo>
                <a:lnTo>
                  <a:pt x="0" y="409574"/>
                </a:lnTo>
                <a:lnTo>
                  <a:pt x="0" y="0"/>
                </a:lnTo>
                <a:lnTo>
                  <a:pt x="66674" y="0"/>
                </a:lnTo>
                <a:lnTo>
                  <a:pt x="66674" y="409574"/>
                </a:lnTo>
                <a:close/>
              </a:path>
            </a:pathLst>
          </a:custGeom>
          <a:solidFill>
            <a:srgbClr val="D0D6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619874" y="3257549"/>
            <a:ext cx="1352550" cy="371475"/>
          </a:xfrm>
          <a:custGeom>
            <a:avLst/>
            <a:gdLst/>
            <a:ahLst/>
            <a:cxnLst/>
            <a:rect l="l" t="t" r="r" b="b"/>
            <a:pathLst>
              <a:path w="1352550" h="371475">
                <a:moveTo>
                  <a:pt x="1299152" y="371474"/>
                </a:moveTo>
                <a:lnTo>
                  <a:pt x="53397" y="371474"/>
                </a:lnTo>
                <a:lnTo>
                  <a:pt x="49680" y="371109"/>
                </a:lnTo>
                <a:lnTo>
                  <a:pt x="14084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4"/>
                </a:lnTo>
                <a:lnTo>
                  <a:pt x="53397" y="0"/>
                </a:lnTo>
                <a:lnTo>
                  <a:pt x="1299152" y="0"/>
                </a:lnTo>
                <a:lnTo>
                  <a:pt x="1338464" y="19392"/>
                </a:lnTo>
                <a:lnTo>
                  <a:pt x="1352549" y="53397"/>
                </a:lnTo>
                <a:lnTo>
                  <a:pt x="1352549" y="318077"/>
                </a:lnTo>
                <a:lnTo>
                  <a:pt x="1333156" y="357389"/>
                </a:lnTo>
                <a:lnTo>
                  <a:pt x="1302868" y="371109"/>
                </a:lnTo>
                <a:lnTo>
                  <a:pt x="1299152" y="371474"/>
                </a:lnTo>
                <a:close/>
              </a:path>
            </a:pathLst>
          </a:custGeom>
          <a:solidFill>
            <a:srgbClr val="AFB8C1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3990974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467224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4952999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5374" y="5438774"/>
            <a:ext cx="76200" cy="76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1168400"/>
            <a:ext cx="10314940" cy="44430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7505">
              <a:lnSpc>
                <a:spcPct val="100000"/>
              </a:lnSpc>
              <a:spcBef>
                <a:spcPts val="125"/>
              </a:spcBef>
            </a:pPr>
            <a:r>
              <a:rPr sz="2150" spc="-5" dirty="0">
                <a:solidFill>
                  <a:srgbClr val="57606A"/>
                </a:solidFill>
                <a:latin typeface="等线" panose="02010600030101010101" charset="-122"/>
                <a:cs typeface="等线" panose="02010600030101010101" charset="-122"/>
              </a:rPr>
              <a:t>下两个阶段主要起一个站着说话不腰疼的作用，但也需要保证理想与现实的统一。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UI</a:t>
            </a:r>
            <a:r>
              <a:rPr sz="2800" b="1" spc="-2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细化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又名“设计的老师使用了魔法”！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marR="3011805" indent="-552450">
              <a:lnSpc>
                <a:spcPts val="4500"/>
              </a:lnSpc>
              <a:spcBef>
                <a:spcPts val="395"/>
              </a:spcBef>
              <a:tabLst>
                <a:tab pos="5974080" algn="l"/>
              </a:tabLst>
            </a:pP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但在魔法师开始工作之前，产品经理需要先完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成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	</a:t>
            </a: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低保真模</a:t>
            </a:r>
            <a:r>
              <a:rPr sz="1850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型 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: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产品包括哪几个页面</a:t>
            </a:r>
            <a:r>
              <a:rPr sz="2150" spc="-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？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>
              <a:lnSpc>
                <a:spcPct val="100000"/>
              </a:lnSpc>
              <a:spcBef>
                <a:spcPts val="700"/>
              </a:spcBef>
            </a:pP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页面上有什么功能？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564515" marR="6703060">
              <a:lnSpc>
                <a:spcPts val="3830"/>
              </a:lnSpc>
              <a:spcBef>
                <a:spcPts val="13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跳转逻辑是什么样子的？</a:t>
            </a:r>
            <a:r>
              <a:rPr sz="2150" spc="-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需要显示什么文本？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2474" y="600074"/>
            <a:ext cx="10696574" cy="56673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2474" y="1114425"/>
            <a:ext cx="10696574" cy="4638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2" name="object 2"/>
          <p:cNvSpPr txBox="1"/>
          <p:nvPr/>
        </p:nvSpPr>
        <p:spPr>
          <a:xfrm>
            <a:off x="735012" y="2638107"/>
            <a:ext cx="5052695" cy="1390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咱也不知道中间发生了什么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咱负责嘎嘎，设计老师负责乱杀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2" name="object 2"/>
          <p:cNvSpPr txBox="1"/>
          <p:nvPr/>
        </p:nvSpPr>
        <p:spPr>
          <a:xfrm>
            <a:off x="735012" y="2123757"/>
            <a:ext cx="8588375" cy="2497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技术实现与测试</a:t>
            </a:r>
            <a:endParaRPr sz="280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246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又名看技术老师让大饼照进现实。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1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我们把技术老师们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New</a:t>
            </a:r>
            <a:r>
              <a:rPr sz="2150" spc="12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Bee</a:t>
            </a:r>
            <a:r>
              <a:rPr sz="2150" spc="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 打在公屏上，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2700" marR="5080">
              <a:lnSpc>
                <a:spcPts val="3300"/>
              </a:lnSpc>
              <a:spcBef>
                <a:spcPts val="30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但为了产品能如期上线，还是需要时不时探头康康老师们做到哪里了。</a:t>
            </a:r>
            <a:r>
              <a:rPr sz="2150" spc="1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顺便厚着脸皮提一些修改意见 </a:t>
            </a:r>
            <a:r>
              <a:rPr sz="2150" spc="-2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XD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752157"/>
            <a:ext cx="9110980" cy="1106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0" dirty="0">
                <a:solidFill>
                  <a:srgbClr val="214466"/>
                </a:solidFill>
                <a:latin typeface="等线" panose="02010600030101010101" charset="-122"/>
                <a:cs typeface="等线" panose="02010600030101010101" charset="-122"/>
              </a:rPr>
              <a:t>产品上线与运营</a:t>
            </a:r>
            <a:endParaRPr sz="2800" dirty="0">
              <a:latin typeface="等线" panose="02010600030101010101" charset="-122"/>
              <a:cs typeface="等线" panose="02010600030101010101" charset="-122"/>
            </a:endParaRPr>
          </a:p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lang="zh-CN" altLang="en-US"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目前主要方式：</a:t>
            </a:r>
            <a:r>
              <a:rPr sz="2150" spc="-5" dirty="0" err="1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产品反馈群</a:t>
            </a:r>
            <a:endParaRPr sz="2150" dirty="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023171"/>
            <a:ext cx="788670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066924"/>
            <a:ext cx="10696575" cy="3295650"/>
            <a:chOff x="752474" y="2066924"/>
            <a:chExt cx="10696575" cy="3295650"/>
          </a:xfrm>
        </p:grpSpPr>
        <p:sp>
          <p:nvSpPr>
            <p:cNvPr id="3" name="object 3"/>
            <p:cNvSpPr/>
            <p:nvPr/>
          </p:nvSpPr>
          <p:spPr>
            <a:xfrm>
              <a:off x="757237" y="2071687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10638100" y="3286124"/>
                  </a:moveTo>
                  <a:lnTo>
                    <a:pt x="48947" y="3286124"/>
                  </a:lnTo>
                  <a:lnTo>
                    <a:pt x="45540" y="3285788"/>
                  </a:lnTo>
                  <a:lnTo>
                    <a:pt x="10739" y="3265700"/>
                  </a:lnTo>
                  <a:lnTo>
                    <a:pt x="0" y="3237177"/>
                  </a:lnTo>
                  <a:lnTo>
                    <a:pt x="0" y="32337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3237177"/>
                  </a:lnTo>
                  <a:lnTo>
                    <a:pt x="10669272" y="3273212"/>
                  </a:lnTo>
                  <a:lnTo>
                    <a:pt x="10641507" y="3285788"/>
                  </a:lnTo>
                  <a:lnTo>
                    <a:pt x="10638100" y="32861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57237" y="2071687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0" y="32337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233737"/>
                  </a:lnTo>
                  <a:lnTo>
                    <a:pt x="10687049" y="3237177"/>
                  </a:lnTo>
                  <a:lnTo>
                    <a:pt x="10686713" y="3240583"/>
                  </a:lnTo>
                  <a:lnTo>
                    <a:pt x="10666625" y="3275384"/>
                  </a:lnTo>
                  <a:lnTo>
                    <a:pt x="10634661" y="3286124"/>
                  </a:lnTo>
                  <a:lnTo>
                    <a:pt x="52387" y="3286124"/>
                  </a:lnTo>
                  <a:lnTo>
                    <a:pt x="23282" y="3277294"/>
                  </a:lnTo>
                  <a:lnTo>
                    <a:pt x="20422" y="3275384"/>
                  </a:lnTo>
                  <a:lnTo>
                    <a:pt x="3987" y="3253784"/>
                  </a:lnTo>
                  <a:lnTo>
                    <a:pt x="2671" y="3250606"/>
                  </a:lnTo>
                  <a:lnTo>
                    <a:pt x="1677" y="3247330"/>
                  </a:lnTo>
                  <a:lnTo>
                    <a:pt x="1006" y="3243956"/>
                  </a:lnTo>
                  <a:lnTo>
                    <a:pt x="335" y="3240583"/>
                  </a:lnTo>
                  <a:lnTo>
                    <a:pt x="0" y="3237177"/>
                  </a:lnTo>
                  <a:lnTo>
                    <a:pt x="0" y="3233737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735012" y="1482725"/>
            <a:ext cx="5709285" cy="3710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5" dirty="0">
                <a:solidFill>
                  <a:srgbClr val="404040"/>
                </a:solidFill>
                <a:latin typeface="等线" panose="02010600030101010101" charset="-122"/>
                <a:cs typeface="等线" panose="02010600030101010101" charset="-122"/>
              </a:rPr>
              <a:t>在反馈群中，您应该：</a:t>
            </a: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150">
              <a:latin typeface="等线" panose="02010600030101010101" charset="-122"/>
              <a:cs typeface="等线" panose="02010600030101010101" charset="-122"/>
            </a:endParaRPr>
          </a:p>
          <a:p>
            <a:pPr marL="179070" marR="2399665" algn="ctr">
              <a:lnSpc>
                <a:spcPts val="2100"/>
              </a:lnSpc>
            </a:pPr>
            <a:r>
              <a:rPr sz="1850" spc="-10" dirty="0">
                <a:solidFill>
                  <a:srgbClr val="D63A49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1850" spc="-1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用户在使用上遇到问题</a:t>
            </a:r>
            <a:r>
              <a:rPr sz="1850" spc="1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) {</a:t>
            </a:r>
            <a:r>
              <a:rPr sz="1850" spc="-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1850" spc="-10" dirty="0">
                <a:solidFill>
                  <a:srgbClr val="D63A49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1850" spc="-1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能够直接回答</a:t>
            </a:r>
            <a:r>
              <a:rPr sz="18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) {</a:t>
            </a:r>
            <a:endParaRPr sz="1850">
              <a:latin typeface="Consolas" panose="020B0609020204030204"/>
              <a:cs typeface="Consolas" panose="020B0609020204030204"/>
            </a:endParaRPr>
          </a:p>
          <a:p>
            <a:pPr marL="1211580">
              <a:lnSpc>
                <a:spcPts val="2065"/>
              </a:lnSpc>
            </a:pP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友善的给出回答</a:t>
            </a:r>
            <a:r>
              <a:rPr sz="1850" spc="-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;</a:t>
            </a:r>
            <a:endParaRPr sz="1850">
              <a:latin typeface="Consolas" panose="020B0609020204030204"/>
              <a:cs typeface="Consolas" panose="020B0609020204030204"/>
            </a:endParaRPr>
          </a:p>
          <a:p>
            <a:pPr marL="695325">
              <a:lnSpc>
                <a:spcPts val="2100"/>
              </a:lnSpc>
            </a:pPr>
            <a:r>
              <a:rPr sz="18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1850" spc="-5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1850" dirty="0">
                <a:solidFill>
                  <a:srgbClr val="D63A49"/>
                </a:solidFill>
                <a:latin typeface="Consolas" panose="020B0609020204030204"/>
                <a:cs typeface="Consolas" panose="020B0609020204030204"/>
              </a:rPr>
              <a:t>else</a:t>
            </a:r>
            <a:r>
              <a:rPr sz="1850" spc="-5" dirty="0">
                <a:solidFill>
                  <a:srgbClr val="D63A49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1850" spc="-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sz="1850">
              <a:latin typeface="Consolas" panose="020B0609020204030204"/>
              <a:cs typeface="Consolas" panose="020B0609020204030204"/>
            </a:endParaRPr>
          </a:p>
          <a:p>
            <a:pPr marL="1211580">
              <a:lnSpc>
                <a:spcPts val="2135"/>
              </a:lnSpc>
            </a:pP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求助老人</a:t>
            </a:r>
            <a:r>
              <a:rPr sz="18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/</a:t>
            </a: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技术的老师后，友善的给出回答</a:t>
            </a:r>
            <a:r>
              <a:rPr sz="1850" spc="-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;</a:t>
            </a:r>
            <a:endParaRPr sz="1850">
              <a:latin typeface="Consolas" panose="020B0609020204030204"/>
              <a:cs typeface="Consolas" panose="020B0609020204030204"/>
            </a:endParaRPr>
          </a:p>
          <a:p>
            <a:pPr marL="695325">
              <a:lnSpc>
                <a:spcPts val="2195"/>
              </a:lnSpc>
            </a:pPr>
            <a:r>
              <a:rPr sz="1850" spc="-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1850">
              <a:latin typeface="Consolas" panose="020B0609020204030204"/>
              <a:cs typeface="Consolas" panose="020B0609020204030204"/>
            </a:endParaRPr>
          </a:p>
          <a:p>
            <a:pPr marR="2256155" algn="ctr">
              <a:lnSpc>
                <a:spcPts val="2195"/>
              </a:lnSpc>
              <a:spcBef>
                <a:spcPts val="1980"/>
              </a:spcBef>
            </a:pPr>
            <a:r>
              <a:rPr sz="1850" spc="5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} </a:t>
            </a:r>
            <a:r>
              <a:rPr sz="1850" dirty="0">
                <a:solidFill>
                  <a:srgbClr val="D63A49"/>
                </a:solidFill>
                <a:latin typeface="Consolas" panose="020B0609020204030204"/>
                <a:cs typeface="Consolas" panose="020B0609020204030204"/>
              </a:rPr>
              <a:t>else</a:t>
            </a:r>
            <a:r>
              <a:rPr sz="1850" spc="15" dirty="0">
                <a:solidFill>
                  <a:srgbClr val="D63A49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1850" spc="-10" dirty="0">
                <a:solidFill>
                  <a:srgbClr val="D63A49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1850" spc="-1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用户提出需求</a:t>
            </a:r>
            <a:r>
              <a:rPr sz="1850" spc="-15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) {</a:t>
            </a:r>
            <a:endParaRPr sz="1850">
              <a:latin typeface="Consolas" panose="020B0609020204030204"/>
              <a:cs typeface="Consolas" panose="020B0609020204030204"/>
            </a:endParaRPr>
          </a:p>
          <a:p>
            <a:pPr marL="695325">
              <a:lnSpc>
                <a:spcPts val="2140"/>
              </a:lnSpc>
            </a:pP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友善的做出回应</a:t>
            </a:r>
            <a:r>
              <a:rPr sz="1850" spc="-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;</a:t>
            </a:r>
            <a:endParaRPr sz="1850">
              <a:latin typeface="Consolas" panose="020B0609020204030204"/>
              <a:cs typeface="Consolas" panose="020B0609020204030204"/>
            </a:endParaRPr>
          </a:p>
          <a:p>
            <a:pPr marL="695325">
              <a:lnSpc>
                <a:spcPts val="2100"/>
              </a:lnSpc>
            </a:pPr>
            <a:r>
              <a:rPr sz="1850" spc="-10" dirty="0">
                <a:solidFill>
                  <a:srgbClr val="D63A49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1850" spc="-1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合理</a:t>
            </a:r>
            <a:r>
              <a:rPr sz="1850" spc="55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) </a:t>
            </a:r>
            <a:r>
              <a:rPr sz="1850" spc="-25" dirty="0">
                <a:solidFill>
                  <a:srgbClr val="404040"/>
                </a:solidFill>
                <a:latin typeface="微软雅黑" charset="-122"/>
                <a:cs typeface="微软雅黑" charset="-122"/>
              </a:rPr>
              <a:t>记进小本本，等待后续更新</a:t>
            </a:r>
            <a:r>
              <a:rPr sz="1850" spc="-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;</a:t>
            </a:r>
            <a:endParaRPr sz="1850">
              <a:latin typeface="Consolas" panose="020B0609020204030204"/>
              <a:cs typeface="Consolas" panose="020B0609020204030204"/>
            </a:endParaRPr>
          </a:p>
          <a:p>
            <a:pPr marL="179070">
              <a:lnSpc>
                <a:spcPts val="2160"/>
              </a:lnSpc>
            </a:pPr>
            <a:r>
              <a:rPr sz="1850" spc="-50" dirty="0">
                <a:solidFill>
                  <a:srgbClr val="404040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185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73050" y="6430190"/>
            <a:ext cx="1802764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pc="-5" dirty="0"/>
              <a:t>产品经理概论 - </a:t>
            </a:r>
            <a:r>
              <a:rPr dirty="0"/>
              <a:t>by</a:t>
            </a:r>
            <a:r>
              <a:rPr spc="-20" dirty="0"/>
              <a:t> 叉粑</a:t>
            </a:r>
            <a:r>
              <a:rPr lang="zh-CN" altLang="en-US" spc="-20" dirty="0">
                <a:sym typeface="+mn-ea"/>
              </a:rPr>
              <a:t>修改：晚自习</a:t>
            </a:r>
            <a:endParaRPr lang="zh-CN" altLang="en-US" spc="-20" dirty="0"/>
          </a:p>
          <a:p>
            <a:pPr marL="12700">
              <a:lnSpc>
                <a:spcPts val="1465"/>
              </a:lnSpc>
            </a:pP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-10" dirty="0"/>
              <a:t>产品经理的工作流程</a:t>
            </a:r>
            <a:endParaRPr spc="-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2144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492250"/>
            <a:ext cx="21012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4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然后...</a:t>
            </a:r>
            <a:endParaRPr sz="6000"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5012" y="3054349"/>
            <a:ext cx="6329680" cy="2166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6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就没有然后了.</a:t>
            </a:r>
            <a:endParaRPr sz="6000" dirty="0">
              <a:latin typeface="等线" panose="02010600030101010101" charset="-122"/>
              <a:cs typeface="等线" panose="02010600030101010101" charset="-122"/>
            </a:endParaRPr>
          </a:p>
          <a:p>
            <a:pPr marL="12700" marR="5080">
              <a:lnSpc>
                <a:spcPct val="125000"/>
              </a:lnSpc>
              <a:spcBef>
                <a:spcPts val="3205"/>
              </a:spcBef>
              <a:tabLst>
                <a:tab pos="2338070" algn="l"/>
              </a:tabLst>
            </a:pPr>
            <a:r>
              <a:rPr sz="215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看到这里的你已经是一名合格的 产品经理 </a:t>
            </a:r>
            <a:r>
              <a:rPr sz="2150" strike="sngStrike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劳动力</a:t>
            </a:r>
            <a:r>
              <a:rPr sz="2150" strike="noStrike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2150" strike="noStrike" spc="-5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了</a:t>
            </a:r>
            <a:r>
              <a:rPr sz="2150" strike="noStrike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来，试试看 </a:t>
            </a:r>
            <a:r>
              <a:rPr sz="2150" u="sng" strike="noStrike" dirty="0">
                <a:solidFill>
                  <a:srgbClr val="FFFFFF"/>
                </a:solidFill>
                <a:uFill>
                  <a:solidFill>
                    <a:srgbClr val="FEFEFE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endParaRPr sz="2150" dirty="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5012" y="5638800"/>
            <a:ext cx="2770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fin.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2657</Words>
  <Application>WPS 文字</Application>
  <PresentationFormat>宽屏</PresentationFormat>
  <Paragraphs>250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6" baseType="lpstr">
      <vt:lpstr>Arial</vt:lpstr>
      <vt:lpstr>宋体</vt:lpstr>
      <vt:lpstr>Wingdings</vt:lpstr>
      <vt:lpstr>黑体</vt:lpstr>
      <vt:lpstr>汉仪中黑KW</vt:lpstr>
      <vt:lpstr>等线</vt:lpstr>
      <vt:lpstr>汉仪中等线KW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Consolas</vt:lpstr>
      <vt:lpstr>Times New Roman</vt:lpstr>
      <vt:lpstr>苹方-简</vt:lpstr>
      <vt:lpstr>Consolas</vt:lpstr>
      <vt:lpstr>Times New Roman</vt:lpstr>
      <vt:lpstr>微软雅黑</vt:lpstr>
      <vt:lpstr>等线</vt:lpstr>
      <vt:lpstr>黑体</vt:lpstr>
      <vt:lpstr>Office Theme</vt:lpstr>
      <vt:lpstr>PowerPoint 演示文稿</vt:lpstr>
      <vt:lpstr>课程简介</vt:lpstr>
      <vt:lpstr>免责声明</vt:lpstr>
      <vt:lpstr>PowerPoint 演示文稿</vt:lpstr>
      <vt:lpstr>1	产品经理干什么</vt:lpstr>
      <vt:lpstr>1	产品经理干什么</vt:lpstr>
      <vt:lpstr>1	产品经理干什么</vt:lpstr>
      <vt:lpstr>To Sum Up</vt:lpstr>
      <vt:lpstr>2	产品经理会什么</vt:lpstr>
      <vt:lpstr>2	产品经理会什么</vt:lpstr>
      <vt:lpstr>2	产品经理会什么</vt:lpstr>
      <vt:lpstr>3	产品经理的工作流程</vt:lpstr>
      <vt:lpstr>3	产品经理的工作流程</vt:lpstr>
      <vt:lpstr>3	产品经理的工作流程</vt:lpstr>
      <vt:lpstr>3	产品经理的工作流程</vt:lpstr>
      <vt:lpstr>3	产品经理的工作流程</vt:lpstr>
      <vt:lpstr>3	产品经理的工作流程</vt:lpstr>
      <vt:lpstr>3	产品经理的工作流程</vt:lpstr>
      <vt:lpstr>3	产品经理的工作流程</vt:lpstr>
      <vt:lpstr>3	产品经理的工作流程</vt:lpstr>
      <vt:lpstr>3	产品经理的工作流程</vt:lpstr>
      <vt:lpstr>3	产品经理的工作流程</vt:lpstr>
      <vt:lpstr>然后...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谭林洁</cp:lastModifiedBy>
  <cp:revision>9</cp:revision>
  <dcterms:created xsi:type="dcterms:W3CDTF">2026-10-15T12:13:56Z</dcterms:created>
  <dcterms:modified xsi:type="dcterms:W3CDTF">2026-10-15T12:13:56Z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2022-10-15T08:00:00Z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2024-09-29T08:00:00Z</vt:filetime>
  </property>
  <property fmtid="{D5CDD505-2E9C-101B-9397-08002B2CF9AE}" pid="5" name="Producer">
    <vt:lpwstr>Created by Marp</vt:lpwstr>
  </property>
  <property fmtid="{D5CDD505-2E9C-101B-9397-08002B2CF9AE}" pid="6" name="ICV">
    <vt:lpwstr>1D53DDFD0D254E4B846A75BD2C98A7EF_12</vt:lpwstr>
  </property>
  <property fmtid="{D5CDD505-2E9C-101B-9397-08002B2CF9AE}" pid="7" name="KSOProductBuildVer">
    <vt:lpwstr>2052-12.1.26046.26046</vt:lpwstr>
  </property>
</Properties>
</file>